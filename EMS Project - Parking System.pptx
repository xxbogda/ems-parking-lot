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9" r:id="rId4"/>
    <p:sldId id="260" r:id="rId5"/>
    <p:sldId id="261" r:id="rId6"/>
    <p:sldId id="262" r:id="rId7"/>
    <p:sldId id="263" r:id="rId8"/>
    <p:sldId id="265" r:id="rId9"/>
    <p:sldId id="266"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31333B-772E-447E-A6F7-AE19ED46125B}" type="datetimeFigureOut">
              <a:rPr lang="ro-RO" smtClean="0"/>
              <a:t>24.12.2025</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2CFBC9-FA5B-4932-AE1D-FD5D3A60E4A9}" type="slidenum">
              <a:rPr lang="ro-RO" smtClean="0"/>
              <a:t>‹#›</a:t>
            </a:fld>
            <a:endParaRPr lang="ro-RO"/>
          </a:p>
        </p:txBody>
      </p:sp>
    </p:spTree>
    <p:extLst>
      <p:ext uri="{BB962C8B-B14F-4D97-AF65-F5344CB8AC3E}">
        <p14:creationId xmlns:p14="http://schemas.microsoft.com/office/powerpoint/2010/main" val="324006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712CFBC9-FA5B-4932-AE1D-FD5D3A60E4A9}" type="slidenum">
              <a:rPr lang="ro-RO" smtClean="0"/>
              <a:t>4</a:t>
            </a:fld>
            <a:endParaRPr lang="ro-RO"/>
          </a:p>
        </p:txBody>
      </p:sp>
    </p:spTree>
    <p:extLst>
      <p:ext uri="{BB962C8B-B14F-4D97-AF65-F5344CB8AC3E}">
        <p14:creationId xmlns:p14="http://schemas.microsoft.com/office/powerpoint/2010/main" val="2454703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712CFBC9-FA5B-4932-AE1D-FD5D3A60E4A9}" type="slidenum">
              <a:rPr lang="ro-RO" smtClean="0"/>
              <a:t>5</a:t>
            </a:fld>
            <a:endParaRPr lang="ro-RO"/>
          </a:p>
        </p:txBody>
      </p:sp>
    </p:spTree>
    <p:extLst>
      <p:ext uri="{BB962C8B-B14F-4D97-AF65-F5344CB8AC3E}">
        <p14:creationId xmlns:p14="http://schemas.microsoft.com/office/powerpoint/2010/main" val="1612012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712CFBC9-FA5B-4932-AE1D-FD5D3A60E4A9}" type="slidenum">
              <a:rPr lang="ro-RO" smtClean="0"/>
              <a:t>8</a:t>
            </a:fld>
            <a:endParaRPr lang="ro-RO"/>
          </a:p>
        </p:txBody>
      </p:sp>
    </p:spTree>
    <p:extLst>
      <p:ext uri="{BB962C8B-B14F-4D97-AF65-F5344CB8AC3E}">
        <p14:creationId xmlns:p14="http://schemas.microsoft.com/office/powerpoint/2010/main" val="902517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12/24/2025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12/24/2025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12/24/2025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12/24/2025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12/24/2025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5.png"/><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EFF5-048D-D563-B165-78AAB1A7685F}"/>
              </a:ext>
            </a:extLst>
          </p:cNvPr>
          <p:cNvSpPr>
            <a:spLocks noGrp="1"/>
          </p:cNvSpPr>
          <p:nvPr>
            <p:ph type="ctrTitle"/>
          </p:nvPr>
        </p:nvSpPr>
        <p:spPr/>
        <p:txBody>
          <a:bodyPr/>
          <a:lstStyle/>
          <a:p>
            <a:r>
              <a:rPr lang="en-US" dirty="0"/>
              <a:t>Parking management system w/ </a:t>
            </a:r>
            <a:r>
              <a:rPr lang="en-US" dirty="0" err="1"/>
              <a:t>nfc</a:t>
            </a:r>
            <a:r>
              <a:rPr lang="en-US" dirty="0"/>
              <a:t> access</a:t>
            </a:r>
            <a:endParaRPr lang="ro-RO" dirty="0"/>
          </a:p>
        </p:txBody>
      </p:sp>
      <p:sp>
        <p:nvSpPr>
          <p:cNvPr id="3" name="Subtitle 2">
            <a:extLst>
              <a:ext uri="{FF2B5EF4-FFF2-40B4-BE49-F238E27FC236}">
                <a16:creationId xmlns:a16="http://schemas.microsoft.com/office/drawing/2014/main" id="{269CC6CD-0CF4-2DCD-9739-936B482555D1}"/>
              </a:ext>
            </a:extLst>
          </p:cNvPr>
          <p:cNvSpPr>
            <a:spLocks noGrp="1"/>
          </p:cNvSpPr>
          <p:nvPr>
            <p:ph type="subTitle" idx="1"/>
          </p:nvPr>
        </p:nvSpPr>
        <p:spPr/>
        <p:txBody>
          <a:bodyPr/>
          <a:lstStyle/>
          <a:p>
            <a:r>
              <a:rPr lang="en-US" dirty="0"/>
              <a:t>Ems project by BUCUR Bogdan, Demian Daria &amp; </a:t>
            </a:r>
            <a:r>
              <a:rPr lang="ro-RO" dirty="0"/>
              <a:t>Știube </a:t>
            </a:r>
            <a:r>
              <a:rPr lang="ro-RO" dirty="0" err="1"/>
              <a:t>bogdan</a:t>
            </a:r>
            <a:r>
              <a:rPr lang="ro-RO" dirty="0"/>
              <a:t> – Group</a:t>
            </a:r>
            <a:r>
              <a:rPr lang="en-US" dirty="0"/>
              <a:t>: 30421 </a:t>
            </a:r>
            <a:endParaRPr lang="ro-RO" dirty="0"/>
          </a:p>
        </p:txBody>
      </p:sp>
    </p:spTree>
    <p:extLst>
      <p:ext uri="{BB962C8B-B14F-4D97-AF65-F5344CB8AC3E}">
        <p14:creationId xmlns:p14="http://schemas.microsoft.com/office/powerpoint/2010/main" val="2018807513"/>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UK Schoolboy Finds Apple's 'Nerd Face' Emoji Offensive, Urges Firm to ...">
            <a:extLst>
              <a:ext uri="{FF2B5EF4-FFF2-40B4-BE49-F238E27FC236}">
                <a16:creationId xmlns:a16="http://schemas.microsoft.com/office/drawing/2014/main" id="{EA137938-1174-FE24-FF3B-8856CF786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8644" y="4851092"/>
            <a:ext cx="2015413" cy="201541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99AA89-C415-B21B-71F2-403839C019DB}"/>
              </a:ext>
            </a:extLst>
          </p:cNvPr>
          <p:cNvSpPr>
            <a:spLocks noGrp="1"/>
          </p:cNvSpPr>
          <p:nvPr>
            <p:ph type="title"/>
          </p:nvPr>
        </p:nvSpPr>
        <p:spPr/>
        <p:txBody>
          <a:bodyPr/>
          <a:lstStyle/>
          <a:p>
            <a:r>
              <a:rPr lang="en-US" dirty="0"/>
              <a:t>Project description</a:t>
            </a:r>
            <a:endParaRPr lang="ro-RO" dirty="0"/>
          </a:p>
        </p:txBody>
      </p:sp>
      <p:sp>
        <p:nvSpPr>
          <p:cNvPr id="3" name="Content Placeholder 2">
            <a:extLst>
              <a:ext uri="{FF2B5EF4-FFF2-40B4-BE49-F238E27FC236}">
                <a16:creationId xmlns:a16="http://schemas.microsoft.com/office/drawing/2014/main" id="{789ACC48-84B0-1E97-6EC1-F308E19D17E5}"/>
              </a:ext>
            </a:extLst>
          </p:cNvPr>
          <p:cNvSpPr>
            <a:spLocks noGrp="1"/>
          </p:cNvSpPr>
          <p:nvPr>
            <p:ph idx="1"/>
          </p:nvPr>
        </p:nvSpPr>
        <p:spPr/>
        <p:txBody>
          <a:bodyPr/>
          <a:lstStyle/>
          <a:p>
            <a:r>
              <a:rPr lang="en-US" dirty="0"/>
              <a:t>The purpose of the project is to implement on a lower scale a parking management system with NFC access. It makes use of multiple sensors and actuators such as: servo motors, infrared sensors, two-digit seven-segment-display and an NFC module. Each of them will be presented individually further down the line.</a:t>
            </a:r>
          </a:p>
          <a:p>
            <a:r>
              <a:rPr lang="en-US" dirty="0"/>
              <a:t>Functioning mode: when a car is detected at the entrance of the parking lot by the IR sensor it will also wait for a NFC input to open the barrier (turn on the servos).  The barrier will stay up for a time, until it will come back down. After the car entered, the number on the seven segment display increases by 1. When a car is detected at the exit by the IR sensor, the barrier will open and will stay so for a limited time.  After the car left the parking lot, the value on the SSD decreases by 1. When the parking lot is considered full, the barrier on the entrance will no longer open until </a:t>
            </a:r>
            <a:r>
              <a:rPr lang="en-US"/>
              <a:t>someone exists.</a:t>
            </a:r>
            <a:endParaRPr lang="en-US" dirty="0"/>
          </a:p>
        </p:txBody>
      </p:sp>
    </p:spTree>
    <p:extLst>
      <p:ext uri="{BB962C8B-B14F-4D97-AF65-F5344CB8AC3E}">
        <p14:creationId xmlns:p14="http://schemas.microsoft.com/office/powerpoint/2010/main" val="276288950"/>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DC8B-DE06-9306-9DB4-ED9847BAEBCF}"/>
              </a:ext>
            </a:extLst>
          </p:cNvPr>
          <p:cNvSpPr>
            <a:spLocks noGrp="1"/>
          </p:cNvSpPr>
          <p:nvPr>
            <p:ph type="title"/>
          </p:nvPr>
        </p:nvSpPr>
        <p:spPr/>
        <p:txBody>
          <a:bodyPr/>
          <a:lstStyle/>
          <a:p>
            <a:r>
              <a:rPr lang="en-US" dirty="0"/>
              <a:t>Hardware used</a:t>
            </a:r>
            <a:endParaRPr lang="ro-RO" dirty="0"/>
          </a:p>
        </p:txBody>
      </p:sp>
      <p:sp>
        <p:nvSpPr>
          <p:cNvPr id="3" name="Content Placeholder 2">
            <a:extLst>
              <a:ext uri="{FF2B5EF4-FFF2-40B4-BE49-F238E27FC236}">
                <a16:creationId xmlns:a16="http://schemas.microsoft.com/office/drawing/2014/main" id="{1BCFB795-EC7C-55A2-1A35-D3FB2D126FC1}"/>
              </a:ext>
            </a:extLst>
          </p:cNvPr>
          <p:cNvSpPr>
            <a:spLocks noGrp="1"/>
          </p:cNvSpPr>
          <p:nvPr>
            <p:ph idx="1"/>
          </p:nvPr>
        </p:nvSpPr>
        <p:spPr/>
        <p:txBody>
          <a:bodyPr/>
          <a:lstStyle/>
          <a:p>
            <a:r>
              <a:rPr lang="en-US" dirty="0"/>
              <a:t>Arduino Nano (Bootleg): this is the microcontroller we use to command all our system since it is easy to work with and program. We make use of the digital I/O and analog I pins as well the I2C communication protocol capability.</a:t>
            </a:r>
          </a:p>
          <a:p>
            <a:r>
              <a:rPr lang="en-US" dirty="0"/>
              <a:t>Some board specs: </a:t>
            </a:r>
          </a:p>
          <a:p>
            <a:pPr lvl="1"/>
            <a:r>
              <a:rPr lang="en-US" dirty="0"/>
              <a:t>Microcontroller: </a:t>
            </a:r>
            <a:r>
              <a:rPr lang="ro-RO" dirty="0"/>
              <a:t>ATmega328p</a:t>
            </a:r>
            <a:endParaRPr lang="en-US" dirty="0"/>
          </a:p>
          <a:p>
            <a:pPr lvl="1"/>
            <a:r>
              <a:rPr lang="en-US" dirty="0"/>
              <a:t>Functioning Voltage: 5V</a:t>
            </a:r>
          </a:p>
          <a:p>
            <a:pPr lvl="1"/>
            <a:r>
              <a:rPr lang="en-US" dirty="0"/>
              <a:t>Digital I/O pins: 14</a:t>
            </a:r>
          </a:p>
          <a:p>
            <a:pPr lvl="1"/>
            <a:r>
              <a:rPr lang="en-US" dirty="0"/>
              <a:t>Analog INPUT pins: 8</a:t>
            </a:r>
          </a:p>
          <a:p>
            <a:pPr lvl="1"/>
            <a:r>
              <a:rPr lang="en-US" dirty="0"/>
              <a:t>Flash Memory: 32 kB</a:t>
            </a:r>
          </a:p>
          <a:p>
            <a:pPr lvl="1"/>
            <a:r>
              <a:rPr lang="en-US" dirty="0"/>
              <a:t>Clock Speed: 16 MHz</a:t>
            </a:r>
            <a:endParaRPr lang="ro-RO" dirty="0"/>
          </a:p>
        </p:txBody>
      </p:sp>
      <p:pic>
        <p:nvPicPr>
          <p:cNvPr id="5" name="Picture 4">
            <a:extLst>
              <a:ext uri="{FF2B5EF4-FFF2-40B4-BE49-F238E27FC236}">
                <a16:creationId xmlns:a16="http://schemas.microsoft.com/office/drawing/2014/main" id="{1FD14960-E372-1C9A-E5F2-A05A506A01DC}"/>
              </a:ext>
            </a:extLst>
          </p:cNvPr>
          <p:cNvPicPr>
            <a:picLocks noChangeAspect="1"/>
          </p:cNvPicPr>
          <p:nvPr/>
        </p:nvPicPr>
        <p:blipFill>
          <a:blip r:embed="rId2"/>
          <a:stretch>
            <a:fillRect/>
          </a:stretch>
        </p:blipFill>
        <p:spPr>
          <a:xfrm>
            <a:off x="4517307" y="2953139"/>
            <a:ext cx="3861583" cy="3050864"/>
          </a:xfrm>
          <a:prstGeom prst="rect">
            <a:avLst/>
          </a:prstGeom>
        </p:spPr>
      </p:pic>
      <p:pic>
        <p:nvPicPr>
          <p:cNvPr id="1026" name="Picture 2" descr="Ok emoji , Emoticon Thumb Up Icons 4k transparent background PNG ...">
            <a:extLst>
              <a:ext uri="{FF2B5EF4-FFF2-40B4-BE49-F238E27FC236}">
                <a16:creationId xmlns:a16="http://schemas.microsoft.com/office/drawing/2014/main" id="{CB0E5770-1216-B7CF-2117-5FADE55A15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1937" y="5071770"/>
            <a:ext cx="1798870" cy="1574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58198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22A4-A53D-812D-7CDB-5FE39454DDE2}"/>
              </a:ext>
            </a:extLst>
          </p:cNvPr>
          <p:cNvSpPr>
            <a:spLocks noGrp="1"/>
          </p:cNvSpPr>
          <p:nvPr>
            <p:ph type="title"/>
          </p:nvPr>
        </p:nvSpPr>
        <p:spPr/>
        <p:txBody>
          <a:bodyPr/>
          <a:lstStyle/>
          <a:p>
            <a:r>
              <a:rPr lang="en-US" dirty="0"/>
              <a:t>HARDWARE USED</a:t>
            </a:r>
            <a:endParaRPr lang="ro-RO" dirty="0"/>
          </a:p>
        </p:txBody>
      </p:sp>
      <p:sp>
        <p:nvSpPr>
          <p:cNvPr id="3" name="Text Placeholder 2">
            <a:extLst>
              <a:ext uri="{FF2B5EF4-FFF2-40B4-BE49-F238E27FC236}">
                <a16:creationId xmlns:a16="http://schemas.microsoft.com/office/drawing/2014/main" id="{2522CA93-FE26-B8C7-5E36-BDD69AE74CB0}"/>
              </a:ext>
            </a:extLst>
          </p:cNvPr>
          <p:cNvSpPr>
            <a:spLocks noGrp="1"/>
          </p:cNvSpPr>
          <p:nvPr>
            <p:ph type="body" idx="1"/>
          </p:nvPr>
        </p:nvSpPr>
        <p:spPr/>
        <p:txBody>
          <a:bodyPr/>
          <a:lstStyle/>
          <a:p>
            <a:r>
              <a:rPr lang="en-US" dirty="0"/>
              <a:t>INFRARED SENSORS</a:t>
            </a:r>
            <a:endParaRPr lang="ro-RO" dirty="0"/>
          </a:p>
        </p:txBody>
      </p:sp>
      <p:sp>
        <p:nvSpPr>
          <p:cNvPr id="4" name="Content Placeholder 3">
            <a:extLst>
              <a:ext uri="{FF2B5EF4-FFF2-40B4-BE49-F238E27FC236}">
                <a16:creationId xmlns:a16="http://schemas.microsoft.com/office/drawing/2014/main" id="{6DF2F19F-954D-96BF-C178-D89F8D377194}"/>
              </a:ext>
            </a:extLst>
          </p:cNvPr>
          <p:cNvSpPr>
            <a:spLocks noGrp="1"/>
          </p:cNvSpPr>
          <p:nvPr>
            <p:ph sz="half" idx="2"/>
          </p:nvPr>
        </p:nvSpPr>
        <p:spPr/>
        <p:txBody>
          <a:bodyPr/>
          <a:lstStyle/>
          <a:p>
            <a:r>
              <a:rPr lang="en-US" dirty="0"/>
              <a:t>This is used to detect the car at the entrance or exit of the parking lot. It works by “shooting” a beam of light the from the emitter that bounces of the surface of the object back to the sensor’s receiver thus detecting the object. Its sensitivity can be modified by adjusting the integrated potentiometer.</a:t>
            </a:r>
          </a:p>
          <a:p>
            <a:r>
              <a:rPr lang="en-US" dirty="0"/>
              <a:t>It can detect up to 20cm in distance and an angle of 35 degrees.</a:t>
            </a:r>
            <a:endParaRPr lang="ro-RO" dirty="0"/>
          </a:p>
        </p:txBody>
      </p:sp>
      <p:sp>
        <p:nvSpPr>
          <p:cNvPr id="5" name="Text Placeholder 4">
            <a:extLst>
              <a:ext uri="{FF2B5EF4-FFF2-40B4-BE49-F238E27FC236}">
                <a16:creationId xmlns:a16="http://schemas.microsoft.com/office/drawing/2014/main" id="{AA2A6AD3-8BE6-2A15-CB95-8D87E45C869E}"/>
              </a:ext>
            </a:extLst>
          </p:cNvPr>
          <p:cNvSpPr>
            <a:spLocks noGrp="1"/>
          </p:cNvSpPr>
          <p:nvPr>
            <p:ph type="body" sz="quarter" idx="3"/>
          </p:nvPr>
        </p:nvSpPr>
        <p:spPr/>
        <p:txBody>
          <a:bodyPr/>
          <a:lstStyle/>
          <a:p>
            <a:r>
              <a:rPr lang="en-US" dirty="0"/>
              <a:t>SERVOMOTORS</a:t>
            </a:r>
            <a:endParaRPr lang="ro-RO" dirty="0"/>
          </a:p>
        </p:txBody>
      </p:sp>
      <p:sp>
        <p:nvSpPr>
          <p:cNvPr id="6" name="Content Placeholder 5">
            <a:extLst>
              <a:ext uri="{FF2B5EF4-FFF2-40B4-BE49-F238E27FC236}">
                <a16:creationId xmlns:a16="http://schemas.microsoft.com/office/drawing/2014/main" id="{B4205140-02D2-0777-0F14-3C052D7591FE}"/>
              </a:ext>
            </a:extLst>
          </p:cNvPr>
          <p:cNvSpPr>
            <a:spLocks noGrp="1"/>
          </p:cNvSpPr>
          <p:nvPr>
            <p:ph sz="quarter" idx="4"/>
          </p:nvPr>
        </p:nvSpPr>
        <p:spPr/>
        <p:txBody>
          <a:bodyPr/>
          <a:lstStyle/>
          <a:p>
            <a:r>
              <a:rPr lang="en-US" dirty="0"/>
              <a:t>Two of these servos are used in the system: one at the entry of the parking and one at the exit. They move the barrier up or down, depending on the input signal.  The model we use can rotate 360 degrees and are continuous. To bypass this issue we give a value to the motor to go in a direction, a value at which it stops and another to change the direction going back to the initial position. Instead of telling the motor at which angle it must go we tell it the direction and time it shall rotate.</a:t>
            </a:r>
            <a:endParaRPr lang="ro-RO" dirty="0"/>
          </a:p>
        </p:txBody>
      </p:sp>
      <p:pic>
        <p:nvPicPr>
          <p:cNvPr id="8" name="Picture 7">
            <a:extLst>
              <a:ext uri="{FF2B5EF4-FFF2-40B4-BE49-F238E27FC236}">
                <a16:creationId xmlns:a16="http://schemas.microsoft.com/office/drawing/2014/main" id="{8CCF1D05-D8B5-E32C-9496-39D5943E5A65}"/>
              </a:ext>
            </a:extLst>
          </p:cNvPr>
          <p:cNvPicPr>
            <a:picLocks noChangeAspect="1"/>
          </p:cNvPicPr>
          <p:nvPr/>
        </p:nvPicPr>
        <p:blipFill>
          <a:blip r:embed="rId3"/>
          <a:stretch>
            <a:fillRect/>
          </a:stretch>
        </p:blipFill>
        <p:spPr>
          <a:xfrm>
            <a:off x="2195858" y="5105629"/>
            <a:ext cx="2163771" cy="1658525"/>
          </a:xfrm>
          <a:prstGeom prst="rect">
            <a:avLst/>
          </a:prstGeom>
        </p:spPr>
      </p:pic>
      <p:pic>
        <p:nvPicPr>
          <p:cNvPr id="10" name="Picture 9">
            <a:extLst>
              <a:ext uri="{FF2B5EF4-FFF2-40B4-BE49-F238E27FC236}">
                <a16:creationId xmlns:a16="http://schemas.microsoft.com/office/drawing/2014/main" id="{8DDEFF12-3457-E582-E600-B076E35F535F}"/>
              </a:ext>
            </a:extLst>
          </p:cNvPr>
          <p:cNvPicPr>
            <a:picLocks noChangeAspect="1"/>
          </p:cNvPicPr>
          <p:nvPr/>
        </p:nvPicPr>
        <p:blipFill>
          <a:blip r:embed="rId4"/>
          <a:stretch>
            <a:fillRect/>
          </a:stretch>
        </p:blipFill>
        <p:spPr>
          <a:xfrm>
            <a:off x="10202017" y="5558284"/>
            <a:ext cx="1311958" cy="1140115"/>
          </a:xfrm>
          <a:prstGeom prst="rect">
            <a:avLst/>
          </a:prstGeom>
        </p:spPr>
      </p:pic>
      <p:pic>
        <p:nvPicPr>
          <p:cNvPr id="2050" name="Picture 2" descr="thumbs_up_glasses - Discord Emoji">
            <a:extLst>
              <a:ext uri="{FF2B5EF4-FFF2-40B4-BE49-F238E27FC236}">
                <a16:creationId xmlns:a16="http://schemas.microsoft.com/office/drawing/2014/main" id="{01B8D9CB-E108-2D45-5C52-9630720EE3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1938" y="574741"/>
            <a:ext cx="146685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653370"/>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C5BA-6AC2-7F86-31B1-76E9877DA724}"/>
              </a:ext>
            </a:extLst>
          </p:cNvPr>
          <p:cNvSpPr>
            <a:spLocks noGrp="1"/>
          </p:cNvSpPr>
          <p:nvPr>
            <p:ph type="title"/>
          </p:nvPr>
        </p:nvSpPr>
        <p:spPr/>
        <p:txBody>
          <a:bodyPr/>
          <a:lstStyle/>
          <a:p>
            <a:r>
              <a:rPr lang="en-US" dirty="0"/>
              <a:t>HARDWARE USED</a:t>
            </a:r>
            <a:endParaRPr lang="ro-RO" dirty="0"/>
          </a:p>
        </p:txBody>
      </p:sp>
      <p:sp>
        <p:nvSpPr>
          <p:cNvPr id="3" name="Text Placeholder 2">
            <a:extLst>
              <a:ext uri="{FF2B5EF4-FFF2-40B4-BE49-F238E27FC236}">
                <a16:creationId xmlns:a16="http://schemas.microsoft.com/office/drawing/2014/main" id="{D50B989C-6ACD-3D40-99C4-4CAD88EF1D57}"/>
              </a:ext>
            </a:extLst>
          </p:cNvPr>
          <p:cNvSpPr>
            <a:spLocks noGrp="1"/>
          </p:cNvSpPr>
          <p:nvPr>
            <p:ph type="body" idx="1"/>
          </p:nvPr>
        </p:nvSpPr>
        <p:spPr/>
        <p:txBody>
          <a:bodyPr/>
          <a:lstStyle/>
          <a:p>
            <a:r>
              <a:rPr lang="en-US" dirty="0"/>
              <a:t>2 DIGIT SSD</a:t>
            </a:r>
            <a:endParaRPr lang="ro-RO" dirty="0"/>
          </a:p>
        </p:txBody>
      </p:sp>
      <p:sp>
        <p:nvSpPr>
          <p:cNvPr id="4" name="Content Placeholder 3">
            <a:extLst>
              <a:ext uri="{FF2B5EF4-FFF2-40B4-BE49-F238E27FC236}">
                <a16:creationId xmlns:a16="http://schemas.microsoft.com/office/drawing/2014/main" id="{08F209F4-4270-F1AF-FE78-5BBAACE55CB9}"/>
              </a:ext>
            </a:extLst>
          </p:cNvPr>
          <p:cNvSpPr>
            <a:spLocks noGrp="1"/>
          </p:cNvSpPr>
          <p:nvPr>
            <p:ph sz="half" idx="2"/>
          </p:nvPr>
        </p:nvSpPr>
        <p:spPr/>
        <p:txBody>
          <a:bodyPr>
            <a:normAutofit fontScale="92500" lnSpcReduction="10000"/>
          </a:bodyPr>
          <a:lstStyle/>
          <a:p>
            <a:r>
              <a:rPr lang="en-US" dirty="0"/>
              <a:t>This is the display we use to show the number of cars in the parking lot a time. The maximum number of cars in the parking lot is the same as the maximum number that the SSD can display: 99.</a:t>
            </a:r>
            <a:endParaRPr lang="ro-RO" dirty="0"/>
          </a:p>
        </p:txBody>
      </p:sp>
      <p:sp>
        <p:nvSpPr>
          <p:cNvPr id="5" name="Text Placeholder 4">
            <a:extLst>
              <a:ext uri="{FF2B5EF4-FFF2-40B4-BE49-F238E27FC236}">
                <a16:creationId xmlns:a16="http://schemas.microsoft.com/office/drawing/2014/main" id="{11820EEB-B1E7-23F9-1C64-1ACF71A7B842}"/>
              </a:ext>
            </a:extLst>
          </p:cNvPr>
          <p:cNvSpPr>
            <a:spLocks noGrp="1"/>
          </p:cNvSpPr>
          <p:nvPr>
            <p:ph type="body" sz="quarter" idx="3"/>
          </p:nvPr>
        </p:nvSpPr>
        <p:spPr/>
        <p:txBody>
          <a:bodyPr/>
          <a:lstStyle/>
          <a:p>
            <a:r>
              <a:rPr lang="en-US" dirty="0"/>
              <a:t>PN532 NFC MODULE</a:t>
            </a:r>
            <a:endParaRPr lang="ro-RO" dirty="0"/>
          </a:p>
        </p:txBody>
      </p:sp>
      <p:sp>
        <p:nvSpPr>
          <p:cNvPr id="6" name="Content Placeholder 5">
            <a:extLst>
              <a:ext uri="{FF2B5EF4-FFF2-40B4-BE49-F238E27FC236}">
                <a16:creationId xmlns:a16="http://schemas.microsoft.com/office/drawing/2014/main" id="{27E5E049-29D3-E8B4-30D0-19E4FAA49CB5}"/>
              </a:ext>
            </a:extLst>
          </p:cNvPr>
          <p:cNvSpPr>
            <a:spLocks noGrp="1"/>
          </p:cNvSpPr>
          <p:nvPr>
            <p:ph sz="quarter" idx="4"/>
          </p:nvPr>
        </p:nvSpPr>
        <p:spPr>
          <a:xfrm>
            <a:off x="6217709" y="2926052"/>
            <a:ext cx="3196879" cy="2934999"/>
          </a:xfrm>
        </p:spPr>
        <p:txBody>
          <a:bodyPr>
            <a:normAutofit fontScale="92500" lnSpcReduction="10000"/>
          </a:bodyPr>
          <a:lstStyle/>
          <a:p>
            <a:r>
              <a:rPr lang="en-US" dirty="0"/>
              <a:t>The NFC module works by detecting changes in its magnetic field crated by the magnetic field of a NFC tag, which induces an electric current used for communication. It communicates with the controller through I2C protocol.</a:t>
            </a:r>
          </a:p>
          <a:p>
            <a:r>
              <a:rPr lang="en-US" dirty="0"/>
              <a:t>It can detect up to 7 cm.</a:t>
            </a:r>
            <a:endParaRPr lang="ro-RO" dirty="0"/>
          </a:p>
        </p:txBody>
      </p:sp>
      <p:pic>
        <p:nvPicPr>
          <p:cNvPr id="8" name="Picture 7">
            <a:extLst>
              <a:ext uri="{FF2B5EF4-FFF2-40B4-BE49-F238E27FC236}">
                <a16:creationId xmlns:a16="http://schemas.microsoft.com/office/drawing/2014/main" id="{5AA1BA27-6FB1-7620-2C4A-1DB26E04A672}"/>
              </a:ext>
            </a:extLst>
          </p:cNvPr>
          <p:cNvPicPr>
            <a:picLocks noChangeAspect="1"/>
          </p:cNvPicPr>
          <p:nvPr/>
        </p:nvPicPr>
        <p:blipFill>
          <a:blip r:embed="rId3"/>
          <a:stretch>
            <a:fillRect/>
          </a:stretch>
        </p:blipFill>
        <p:spPr>
          <a:xfrm>
            <a:off x="2306089" y="4102156"/>
            <a:ext cx="1882512" cy="1758895"/>
          </a:xfrm>
          <a:prstGeom prst="rect">
            <a:avLst/>
          </a:prstGeom>
        </p:spPr>
      </p:pic>
      <p:pic>
        <p:nvPicPr>
          <p:cNvPr id="12" name="Picture 11">
            <a:extLst>
              <a:ext uri="{FF2B5EF4-FFF2-40B4-BE49-F238E27FC236}">
                <a16:creationId xmlns:a16="http://schemas.microsoft.com/office/drawing/2014/main" id="{9614B320-825C-A940-7E6B-E51CE0D3CA88}"/>
              </a:ext>
            </a:extLst>
          </p:cNvPr>
          <p:cNvPicPr>
            <a:picLocks noChangeAspect="1"/>
          </p:cNvPicPr>
          <p:nvPr/>
        </p:nvPicPr>
        <p:blipFill>
          <a:blip r:embed="rId4"/>
          <a:stretch>
            <a:fillRect/>
          </a:stretch>
        </p:blipFill>
        <p:spPr>
          <a:xfrm>
            <a:off x="9414588" y="2926052"/>
            <a:ext cx="2029108" cy="3448531"/>
          </a:xfrm>
          <a:prstGeom prst="rect">
            <a:avLst/>
          </a:prstGeom>
        </p:spPr>
      </p:pic>
    </p:spTree>
    <p:extLst>
      <p:ext uri="{BB962C8B-B14F-4D97-AF65-F5344CB8AC3E}">
        <p14:creationId xmlns:p14="http://schemas.microsoft.com/office/powerpoint/2010/main" val="19381324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Dinosaur PNG Transparent Images | PNG All">
            <a:extLst>
              <a:ext uri="{FF2B5EF4-FFF2-40B4-BE49-F238E27FC236}">
                <a16:creationId xmlns:a16="http://schemas.microsoft.com/office/drawing/2014/main" id="{35647BCC-74C9-8BB5-9219-CC59F9FD4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5618" y="2477001"/>
            <a:ext cx="4970203" cy="4380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4806D5B-F420-D6AA-21DE-729E76E9049B}"/>
              </a:ext>
            </a:extLst>
          </p:cNvPr>
          <p:cNvSpPr>
            <a:spLocks noGrp="1"/>
          </p:cNvSpPr>
          <p:nvPr>
            <p:ph type="title"/>
          </p:nvPr>
        </p:nvSpPr>
        <p:spPr/>
        <p:txBody>
          <a:bodyPr/>
          <a:lstStyle/>
          <a:p>
            <a:r>
              <a:rPr lang="en-US" dirty="0"/>
              <a:t>SOFTWARE USED</a:t>
            </a:r>
            <a:endParaRPr lang="ro-RO" dirty="0"/>
          </a:p>
        </p:txBody>
      </p:sp>
      <p:sp>
        <p:nvSpPr>
          <p:cNvPr id="3" name="Content Placeholder 2">
            <a:extLst>
              <a:ext uri="{FF2B5EF4-FFF2-40B4-BE49-F238E27FC236}">
                <a16:creationId xmlns:a16="http://schemas.microsoft.com/office/drawing/2014/main" id="{AA915BD0-8D53-7C66-61AF-F976E0671C86}"/>
              </a:ext>
            </a:extLst>
          </p:cNvPr>
          <p:cNvSpPr>
            <a:spLocks noGrp="1"/>
          </p:cNvSpPr>
          <p:nvPr>
            <p:ph idx="1"/>
          </p:nvPr>
        </p:nvSpPr>
        <p:spPr>
          <a:xfrm>
            <a:off x="581193" y="2180496"/>
            <a:ext cx="6920620" cy="3678303"/>
          </a:xfrm>
        </p:spPr>
        <p:txBody>
          <a:bodyPr/>
          <a:lstStyle/>
          <a:p>
            <a:r>
              <a:rPr lang="en-US" dirty="0"/>
              <a:t>The software tool used for programming the microcontroller is Arduino IDE which uses the C++ programming language</a:t>
            </a:r>
          </a:p>
        </p:txBody>
      </p:sp>
      <p:pic>
        <p:nvPicPr>
          <p:cNvPr id="4098" name="Picture 2" descr="Arduino Ide">
            <a:extLst>
              <a:ext uri="{FF2B5EF4-FFF2-40B4-BE49-F238E27FC236}">
                <a16:creationId xmlns:a16="http://schemas.microsoft.com/office/drawing/2014/main" id="{41A2CECF-2D7C-01DE-3A5B-B19888310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4710" y="4010608"/>
            <a:ext cx="2847392" cy="2847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6309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F29E0F-FCBB-7E2F-091D-05F6BFD64F57}"/>
              </a:ext>
            </a:extLst>
          </p:cNvPr>
          <p:cNvSpPr/>
          <p:nvPr/>
        </p:nvSpPr>
        <p:spPr>
          <a:xfrm>
            <a:off x="457200" y="2068419"/>
            <a:ext cx="11252718" cy="4528324"/>
          </a:xfrm>
          <a:prstGeom prst="rect">
            <a:avLst/>
          </a:prstGeom>
          <a:solidFill>
            <a:srgbClr val="FFFFFF">
              <a:alpha val="25098"/>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 name="Title 1">
            <a:extLst>
              <a:ext uri="{FF2B5EF4-FFF2-40B4-BE49-F238E27FC236}">
                <a16:creationId xmlns:a16="http://schemas.microsoft.com/office/drawing/2014/main" id="{3FEF7E59-357F-CB38-199E-29DB41ABE835}"/>
              </a:ext>
            </a:extLst>
          </p:cNvPr>
          <p:cNvSpPr>
            <a:spLocks noGrp="1"/>
          </p:cNvSpPr>
          <p:nvPr>
            <p:ph type="title"/>
          </p:nvPr>
        </p:nvSpPr>
        <p:spPr/>
        <p:txBody>
          <a:bodyPr/>
          <a:lstStyle/>
          <a:p>
            <a:r>
              <a:rPr lang="en-US" dirty="0"/>
              <a:t>Code</a:t>
            </a:r>
            <a:endParaRPr lang="ro-RO" dirty="0"/>
          </a:p>
        </p:txBody>
      </p:sp>
      <p:sp>
        <p:nvSpPr>
          <p:cNvPr id="4" name="TextBox 3">
            <a:extLst>
              <a:ext uri="{FF2B5EF4-FFF2-40B4-BE49-F238E27FC236}">
                <a16:creationId xmlns:a16="http://schemas.microsoft.com/office/drawing/2014/main" id="{C132382E-F3B6-6C35-8DA0-F4F65206508E}"/>
              </a:ext>
            </a:extLst>
          </p:cNvPr>
          <p:cNvSpPr txBox="1"/>
          <p:nvPr/>
        </p:nvSpPr>
        <p:spPr>
          <a:xfrm>
            <a:off x="1152204" y="2068419"/>
            <a:ext cx="4938498" cy="4401205"/>
          </a:xfrm>
          <a:prstGeom prst="rect">
            <a:avLst/>
          </a:prstGeom>
          <a:noFill/>
        </p:spPr>
        <p:txBody>
          <a:bodyPr wrap="square">
            <a:spAutoFit/>
          </a:bodyPr>
          <a:lstStyle/>
          <a:p>
            <a:r>
              <a:rPr lang="ro-RO" sz="1400" dirty="0" err="1"/>
              <a:t>void</a:t>
            </a:r>
            <a:r>
              <a:rPr lang="ro-RO" sz="1400" dirty="0"/>
              <a:t> </a:t>
            </a:r>
            <a:r>
              <a:rPr lang="ro-RO" sz="1400" dirty="0" err="1"/>
              <a:t>setup</a:t>
            </a:r>
            <a:r>
              <a:rPr lang="ro-RO" sz="1400" dirty="0"/>
              <a:t>() {</a:t>
            </a:r>
          </a:p>
          <a:p>
            <a:r>
              <a:rPr lang="ro-RO" sz="1400" dirty="0"/>
              <a:t>  </a:t>
            </a:r>
            <a:r>
              <a:rPr lang="ro-RO" sz="1400" dirty="0" err="1"/>
              <a:t>Serial.begin</a:t>
            </a:r>
            <a:r>
              <a:rPr lang="ro-RO" sz="1400" dirty="0"/>
              <a:t>(115200);</a:t>
            </a:r>
          </a:p>
          <a:p>
            <a:r>
              <a:rPr lang="ro-RO" sz="1400" dirty="0"/>
              <a:t>  </a:t>
            </a:r>
            <a:r>
              <a:rPr lang="ro-RO" sz="1400" dirty="0" err="1"/>
              <a:t>pinMode</a:t>
            </a:r>
            <a:r>
              <a:rPr lang="ro-RO" sz="1400" dirty="0"/>
              <a:t>(LED_BUILTIN,OUTPUT); //</a:t>
            </a:r>
            <a:r>
              <a:rPr lang="ro-RO" sz="1400" dirty="0" err="1"/>
              <a:t>nfc</a:t>
            </a:r>
            <a:endParaRPr lang="ro-RO" sz="1400" dirty="0"/>
          </a:p>
          <a:p>
            <a:endParaRPr lang="ro-RO" sz="1400" dirty="0"/>
          </a:p>
          <a:p>
            <a:r>
              <a:rPr lang="ro-RO" sz="1400" dirty="0"/>
              <a:t>  </a:t>
            </a:r>
            <a:r>
              <a:rPr lang="ro-RO" sz="1400" dirty="0" err="1"/>
              <a:t>pinMode</a:t>
            </a:r>
            <a:r>
              <a:rPr lang="ro-RO" sz="1400" dirty="0"/>
              <a:t>(IR1_PIN, INPUT);</a:t>
            </a:r>
          </a:p>
          <a:p>
            <a:r>
              <a:rPr lang="ro-RO" sz="1400" dirty="0"/>
              <a:t>  </a:t>
            </a:r>
            <a:r>
              <a:rPr lang="ro-RO" sz="1400" dirty="0" err="1"/>
              <a:t>SME.attach</a:t>
            </a:r>
            <a:r>
              <a:rPr lang="ro-RO" sz="1400" dirty="0"/>
              <a:t>(SME_PIN);</a:t>
            </a:r>
          </a:p>
          <a:p>
            <a:endParaRPr lang="ro-RO" sz="1400" dirty="0"/>
          </a:p>
          <a:p>
            <a:r>
              <a:rPr lang="ro-RO" sz="1400" dirty="0"/>
              <a:t>  </a:t>
            </a:r>
            <a:r>
              <a:rPr lang="ro-RO" sz="1400" dirty="0" err="1"/>
              <a:t>pinMode</a:t>
            </a:r>
            <a:r>
              <a:rPr lang="ro-RO" sz="1400" dirty="0"/>
              <a:t>(IR2_PIN, INPUT);</a:t>
            </a:r>
          </a:p>
          <a:p>
            <a:r>
              <a:rPr lang="ro-RO" sz="1400" dirty="0"/>
              <a:t>  </a:t>
            </a:r>
            <a:r>
              <a:rPr lang="ro-RO" sz="1400" dirty="0" err="1"/>
              <a:t>SMX.attach</a:t>
            </a:r>
            <a:r>
              <a:rPr lang="ro-RO" sz="1400" dirty="0"/>
              <a:t>(SMX_PIN);</a:t>
            </a:r>
          </a:p>
          <a:p>
            <a:endParaRPr lang="ro-RO" sz="1400" dirty="0"/>
          </a:p>
          <a:p>
            <a:r>
              <a:rPr lang="ro-RO" sz="1400" dirty="0"/>
              <a:t>  </a:t>
            </a:r>
            <a:r>
              <a:rPr lang="ro-RO" sz="1400" dirty="0" err="1"/>
              <a:t>nfc.begin</a:t>
            </a:r>
            <a:r>
              <a:rPr lang="ro-RO" sz="1400" dirty="0"/>
              <a:t>();</a:t>
            </a:r>
          </a:p>
          <a:p>
            <a:r>
              <a:rPr lang="ro-RO" sz="1400" dirty="0"/>
              <a:t>  </a:t>
            </a:r>
            <a:r>
              <a:rPr lang="ro-RO" sz="1400" dirty="0" err="1"/>
              <a:t>digitalWrite</a:t>
            </a:r>
            <a:r>
              <a:rPr lang="ro-RO" sz="1400" dirty="0"/>
              <a:t>(LED_BUILTIN, LOW); //</a:t>
            </a:r>
            <a:r>
              <a:rPr lang="ro-RO" sz="1400" dirty="0" err="1"/>
              <a:t>nfc</a:t>
            </a:r>
            <a:endParaRPr lang="ro-RO" sz="1400" dirty="0"/>
          </a:p>
          <a:p>
            <a:endParaRPr lang="ro-RO" sz="1400" dirty="0"/>
          </a:p>
          <a:p>
            <a:r>
              <a:rPr lang="ro-RO" sz="1400" dirty="0"/>
              <a:t>  for (</a:t>
            </a:r>
            <a:r>
              <a:rPr lang="ro-RO" sz="1400" dirty="0" err="1"/>
              <a:t>int</a:t>
            </a:r>
            <a:r>
              <a:rPr lang="ro-RO" sz="1400" dirty="0"/>
              <a:t> i = 2; i &lt; 9; i++) //</a:t>
            </a:r>
            <a:r>
              <a:rPr lang="ro-RO" sz="1400" dirty="0" err="1"/>
              <a:t>ssd</a:t>
            </a:r>
            <a:endParaRPr lang="ro-RO" sz="1400" dirty="0"/>
          </a:p>
          <a:p>
            <a:r>
              <a:rPr lang="ro-RO" sz="1400" dirty="0"/>
              <a:t>  {</a:t>
            </a:r>
          </a:p>
          <a:p>
            <a:r>
              <a:rPr lang="ro-RO" sz="1400" dirty="0"/>
              <a:t>    </a:t>
            </a:r>
            <a:r>
              <a:rPr lang="ro-RO" sz="1400" dirty="0" err="1"/>
              <a:t>pinMode</a:t>
            </a:r>
            <a:r>
              <a:rPr lang="ro-RO" sz="1400" dirty="0"/>
              <a:t>(i, OUTPUT); </a:t>
            </a:r>
          </a:p>
          <a:p>
            <a:r>
              <a:rPr lang="ro-RO" sz="1400" dirty="0"/>
              <a:t>  }</a:t>
            </a:r>
          </a:p>
          <a:p>
            <a:r>
              <a:rPr lang="ro-RO" sz="1400" dirty="0"/>
              <a:t>  </a:t>
            </a:r>
            <a:r>
              <a:rPr lang="ro-RO" sz="1400" dirty="0" err="1"/>
              <a:t>pinMode</a:t>
            </a:r>
            <a:r>
              <a:rPr lang="ro-RO" sz="1400" dirty="0"/>
              <a:t>(12, OUTPUT); //declare 7 </a:t>
            </a:r>
            <a:r>
              <a:rPr lang="ro-RO" sz="1400" dirty="0" err="1"/>
              <a:t>seg</a:t>
            </a:r>
            <a:r>
              <a:rPr lang="ro-RO" sz="1400" dirty="0"/>
              <a:t> Digit1 pin as output</a:t>
            </a:r>
          </a:p>
          <a:p>
            <a:r>
              <a:rPr lang="ro-RO" sz="1400" dirty="0"/>
              <a:t>  </a:t>
            </a:r>
            <a:r>
              <a:rPr lang="ro-RO" sz="1400" dirty="0" err="1"/>
              <a:t>pinMode</a:t>
            </a:r>
            <a:r>
              <a:rPr lang="ro-RO" sz="1400" dirty="0"/>
              <a:t>(11, OUTPUT); //declare 7 </a:t>
            </a:r>
            <a:r>
              <a:rPr lang="ro-RO" sz="1400" dirty="0" err="1"/>
              <a:t>seg</a:t>
            </a:r>
            <a:r>
              <a:rPr lang="ro-RO" sz="1400" dirty="0"/>
              <a:t> Digit2 pin as output</a:t>
            </a:r>
          </a:p>
          <a:p>
            <a:r>
              <a:rPr lang="ro-RO" sz="1400" dirty="0"/>
              <a:t>}</a:t>
            </a:r>
          </a:p>
        </p:txBody>
      </p:sp>
      <p:sp>
        <p:nvSpPr>
          <p:cNvPr id="8" name="TextBox 7">
            <a:extLst>
              <a:ext uri="{FF2B5EF4-FFF2-40B4-BE49-F238E27FC236}">
                <a16:creationId xmlns:a16="http://schemas.microsoft.com/office/drawing/2014/main" id="{64E9C008-DE96-5BFC-F62A-DC65446C2AD5}"/>
              </a:ext>
            </a:extLst>
          </p:cNvPr>
          <p:cNvSpPr txBox="1"/>
          <p:nvPr/>
        </p:nvSpPr>
        <p:spPr>
          <a:xfrm>
            <a:off x="7586838" y="2283863"/>
            <a:ext cx="4029268" cy="3970318"/>
          </a:xfrm>
          <a:prstGeom prst="rect">
            <a:avLst/>
          </a:prstGeom>
          <a:noFill/>
        </p:spPr>
        <p:txBody>
          <a:bodyPr wrap="square">
            <a:spAutoFit/>
          </a:bodyPr>
          <a:lstStyle/>
          <a:p>
            <a:r>
              <a:rPr lang="ro-RO" sz="1400" dirty="0" err="1"/>
              <a:t>void</a:t>
            </a:r>
            <a:r>
              <a:rPr lang="ro-RO" sz="1400" dirty="0"/>
              <a:t> </a:t>
            </a:r>
            <a:r>
              <a:rPr lang="ro-RO" sz="1400" dirty="0" err="1"/>
              <a:t>readNFC</a:t>
            </a:r>
            <a:r>
              <a:rPr lang="ro-RO" sz="1400" dirty="0"/>
              <a:t>() {</a:t>
            </a:r>
          </a:p>
          <a:p>
            <a:r>
              <a:rPr lang="ro-RO" sz="1400" dirty="0"/>
              <a:t>  static </a:t>
            </a:r>
            <a:r>
              <a:rPr lang="ro-RO" sz="1400" dirty="0" err="1"/>
              <a:t>unsigned</a:t>
            </a:r>
            <a:r>
              <a:rPr lang="ro-RO" sz="1400" dirty="0"/>
              <a:t> </a:t>
            </a:r>
            <a:r>
              <a:rPr lang="ro-RO" sz="1400" dirty="0" err="1"/>
              <a:t>long</a:t>
            </a:r>
            <a:r>
              <a:rPr lang="ro-RO" sz="1400" dirty="0"/>
              <a:t> </a:t>
            </a:r>
            <a:r>
              <a:rPr lang="ro-RO" sz="1400" dirty="0" err="1"/>
              <a:t>lastRead</a:t>
            </a:r>
            <a:r>
              <a:rPr lang="ro-RO" sz="1400" dirty="0"/>
              <a:t> = 0;</a:t>
            </a:r>
          </a:p>
          <a:p>
            <a:r>
              <a:rPr lang="ro-RO" sz="1400" dirty="0"/>
              <a:t>  </a:t>
            </a:r>
            <a:r>
              <a:rPr lang="ro-RO" sz="1400" dirty="0" err="1"/>
              <a:t>if</a:t>
            </a:r>
            <a:r>
              <a:rPr lang="ro-RO" sz="1400" dirty="0"/>
              <a:t> (</a:t>
            </a:r>
            <a:r>
              <a:rPr lang="ro-RO" sz="1400" dirty="0" err="1"/>
              <a:t>millis</a:t>
            </a:r>
            <a:r>
              <a:rPr lang="ro-RO" sz="1400" dirty="0"/>
              <a:t>() - </a:t>
            </a:r>
            <a:r>
              <a:rPr lang="ro-RO" sz="1400" dirty="0" err="1"/>
              <a:t>lastRead</a:t>
            </a:r>
            <a:r>
              <a:rPr lang="ro-RO" sz="1400" dirty="0"/>
              <a:t> &lt; 300) </a:t>
            </a:r>
            <a:r>
              <a:rPr lang="ro-RO" sz="1400" dirty="0" err="1"/>
              <a:t>return</a:t>
            </a:r>
            <a:r>
              <a:rPr lang="ro-RO" sz="1400" dirty="0"/>
              <a:t>;</a:t>
            </a:r>
          </a:p>
          <a:p>
            <a:endParaRPr lang="ro-RO" sz="1400" dirty="0"/>
          </a:p>
          <a:p>
            <a:r>
              <a:rPr lang="ro-RO" sz="1400" dirty="0"/>
              <a:t>  </a:t>
            </a:r>
            <a:r>
              <a:rPr lang="ro-RO" sz="1400" dirty="0" err="1"/>
              <a:t>if</a:t>
            </a:r>
            <a:r>
              <a:rPr lang="ro-RO" sz="1400" dirty="0"/>
              <a:t> (</a:t>
            </a:r>
            <a:r>
              <a:rPr lang="ro-RO" sz="1400" dirty="0" err="1"/>
              <a:t>nfc.tagPresent</a:t>
            </a:r>
            <a:r>
              <a:rPr lang="ro-RO" sz="1400" dirty="0"/>
              <a:t>()) {</a:t>
            </a:r>
          </a:p>
          <a:p>
            <a:r>
              <a:rPr lang="ro-RO" sz="1400" dirty="0"/>
              <a:t>    </a:t>
            </a:r>
            <a:r>
              <a:rPr lang="ro-RO" sz="1400" dirty="0" err="1"/>
              <a:t>NfcTag</a:t>
            </a:r>
            <a:r>
              <a:rPr lang="ro-RO" sz="1400" dirty="0"/>
              <a:t> </a:t>
            </a:r>
            <a:r>
              <a:rPr lang="ro-RO" sz="1400" dirty="0" err="1"/>
              <a:t>tag</a:t>
            </a:r>
            <a:r>
              <a:rPr lang="ro-RO" sz="1400" dirty="0"/>
              <a:t> = </a:t>
            </a:r>
            <a:r>
              <a:rPr lang="ro-RO" sz="1400" dirty="0" err="1"/>
              <a:t>nfc.read</a:t>
            </a:r>
            <a:r>
              <a:rPr lang="ro-RO" sz="1400" dirty="0"/>
              <a:t>();</a:t>
            </a:r>
          </a:p>
          <a:p>
            <a:r>
              <a:rPr lang="ro-RO" sz="1400" dirty="0"/>
              <a:t>    </a:t>
            </a:r>
            <a:r>
              <a:rPr lang="ro-RO" sz="1400" dirty="0" err="1"/>
              <a:t>tagId</a:t>
            </a:r>
            <a:r>
              <a:rPr lang="ro-RO" sz="1400" dirty="0"/>
              <a:t> = </a:t>
            </a:r>
            <a:r>
              <a:rPr lang="ro-RO" sz="1400" dirty="0" err="1"/>
              <a:t>tag.getUidString</a:t>
            </a:r>
            <a:r>
              <a:rPr lang="ro-RO" sz="1400" dirty="0"/>
              <a:t>();</a:t>
            </a:r>
          </a:p>
          <a:p>
            <a:r>
              <a:rPr lang="ro-RO" sz="1400" dirty="0"/>
              <a:t>    </a:t>
            </a:r>
            <a:r>
              <a:rPr lang="ro-RO" sz="1400" dirty="0" err="1"/>
              <a:t>lastRead</a:t>
            </a:r>
            <a:r>
              <a:rPr lang="ro-RO" sz="1400" dirty="0"/>
              <a:t> = </a:t>
            </a:r>
            <a:r>
              <a:rPr lang="ro-RO" sz="1400" dirty="0" err="1"/>
              <a:t>millis</a:t>
            </a:r>
            <a:r>
              <a:rPr lang="ro-RO" sz="1400" dirty="0"/>
              <a:t>();</a:t>
            </a:r>
          </a:p>
          <a:p>
            <a:r>
              <a:rPr lang="ro-RO" sz="1400" dirty="0"/>
              <a:t>  }</a:t>
            </a:r>
          </a:p>
          <a:p>
            <a:r>
              <a:rPr lang="ro-RO" sz="1400" dirty="0"/>
              <a:t>}</a:t>
            </a:r>
          </a:p>
          <a:p>
            <a:endParaRPr lang="ro-RO" sz="1400" dirty="0"/>
          </a:p>
          <a:p>
            <a:r>
              <a:rPr lang="ro-RO" sz="1400" dirty="0" err="1"/>
              <a:t>void</a:t>
            </a:r>
            <a:r>
              <a:rPr lang="ro-RO" sz="1400" dirty="0"/>
              <a:t> dis(</a:t>
            </a:r>
            <a:r>
              <a:rPr lang="ro-RO" sz="1400" dirty="0" err="1"/>
              <a:t>int</a:t>
            </a:r>
            <a:r>
              <a:rPr lang="ro-RO" sz="1400" dirty="0"/>
              <a:t> num)</a:t>
            </a:r>
          </a:p>
          <a:p>
            <a:r>
              <a:rPr lang="ro-RO" sz="1400" dirty="0"/>
              <a:t>{</a:t>
            </a:r>
          </a:p>
          <a:p>
            <a:r>
              <a:rPr lang="ro-RO" sz="1400" dirty="0"/>
              <a:t>  for (</a:t>
            </a:r>
            <a:r>
              <a:rPr lang="ro-RO" sz="1400" dirty="0" err="1"/>
              <a:t>int</a:t>
            </a:r>
            <a:r>
              <a:rPr lang="ro-RO" sz="1400" dirty="0"/>
              <a:t> i = 2; i &lt; 9; i++)</a:t>
            </a:r>
          </a:p>
          <a:p>
            <a:r>
              <a:rPr lang="ro-RO" sz="1400" dirty="0"/>
              <a:t>  {</a:t>
            </a:r>
          </a:p>
          <a:p>
            <a:r>
              <a:rPr lang="ro-RO" sz="1400" dirty="0"/>
              <a:t>    </a:t>
            </a:r>
            <a:r>
              <a:rPr lang="ro-RO" sz="1400" dirty="0" err="1"/>
              <a:t>digitalWrite</a:t>
            </a:r>
            <a:r>
              <a:rPr lang="ro-RO" sz="1400" dirty="0"/>
              <a:t>(i, </a:t>
            </a:r>
            <a:r>
              <a:rPr lang="ro-RO" sz="1400" dirty="0" err="1"/>
              <a:t>bitRead</a:t>
            </a:r>
            <a:r>
              <a:rPr lang="ro-RO" sz="1400" dirty="0"/>
              <a:t>(digit[num], i - 2));</a:t>
            </a:r>
          </a:p>
          <a:p>
            <a:r>
              <a:rPr lang="ro-RO" sz="1400" dirty="0"/>
              <a:t>  }</a:t>
            </a:r>
          </a:p>
          <a:p>
            <a:r>
              <a:rPr lang="ro-RO" sz="1400" dirty="0"/>
              <a:t>}</a:t>
            </a:r>
          </a:p>
        </p:txBody>
      </p:sp>
      <p:sp>
        <p:nvSpPr>
          <p:cNvPr id="9" name="TextBox 8">
            <a:extLst>
              <a:ext uri="{FF2B5EF4-FFF2-40B4-BE49-F238E27FC236}">
                <a16:creationId xmlns:a16="http://schemas.microsoft.com/office/drawing/2014/main" id="{B8D08A9F-4239-C366-A700-D1D1975F7111}"/>
              </a:ext>
            </a:extLst>
          </p:cNvPr>
          <p:cNvSpPr txBox="1"/>
          <p:nvPr/>
        </p:nvSpPr>
        <p:spPr>
          <a:xfrm rot="16200000">
            <a:off x="5335896" y="4077542"/>
            <a:ext cx="3970317" cy="461665"/>
          </a:xfrm>
          <a:prstGeom prst="rect">
            <a:avLst/>
          </a:prstGeom>
          <a:noFill/>
        </p:spPr>
        <p:txBody>
          <a:bodyPr wrap="square" rtlCol="0">
            <a:spAutoFit/>
          </a:bodyPr>
          <a:lstStyle/>
          <a:p>
            <a:r>
              <a:rPr lang="en-US" sz="2400" dirty="0"/>
              <a:t>HELPER FUNCTIONS</a:t>
            </a:r>
            <a:endParaRPr lang="ro-RO" sz="2400" dirty="0"/>
          </a:p>
        </p:txBody>
      </p:sp>
      <p:sp>
        <p:nvSpPr>
          <p:cNvPr id="10" name="TextBox 9">
            <a:extLst>
              <a:ext uri="{FF2B5EF4-FFF2-40B4-BE49-F238E27FC236}">
                <a16:creationId xmlns:a16="http://schemas.microsoft.com/office/drawing/2014/main" id="{C2827BAB-B3BD-E8BE-DA8B-3958E3C4C000}"/>
              </a:ext>
            </a:extLst>
          </p:cNvPr>
          <p:cNvSpPr txBox="1"/>
          <p:nvPr/>
        </p:nvSpPr>
        <p:spPr>
          <a:xfrm rot="16200000">
            <a:off x="-1081263" y="4077542"/>
            <a:ext cx="3970317" cy="461665"/>
          </a:xfrm>
          <a:prstGeom prst="rect">
            <a:avLst/>
          </a:prstGeom>
          <a:noFill/>
        </p:spPr>
        <p:txBody>
          <a:bodyPr wrap="square" rtlCol="0">
            <a:spAutoFit/>
          </a:bodyPr>
          <a:lstStyle/>
          <a:p>
            <a:r>
              <a:rPr lang="en-US" sz="2400" dirty="0"/>
              <a:t>SETUP FUNCTION</a:t>
            </a:r>
            <a:endParaRPr lang="ro-RO" sz="2400" dirty="0"/>
          </a:p>
        </p:txBody>
      </p:sp>
    </p:spTree>
    <p:extLst>
      <p:ext uri="{BB962C8B-B14F-4D97-AF65-F5344CB8AC3E}">
        <p14:creationId xmlns:p14="http://schemas.microsoft.com/office/powerpoint/2010/main" val="26342632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337BA-5A34-4177-E76A-9D5921BF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D5F84-57F3-1975-F800-F82D9C376108}"/>
              </a:ext>
            </a:extLst>
          </p:cNvPr>
          <p:cNvSpPr>
            <a:spLocks noGrp="1"/>
          </p:cNvSpPr>
          <p:nvPr>
            <p:ph type="title"/>
          </p:nvPr>
        </p:nvSpPr>
        <p:spPr/>
        <p:txBody>
          <a:bodyPr/>
          <a:lstStyle/>
          <a:p>
            <a:r>
              <a:rPr lang="en-US" dirty="0"/>
              <a:t>Code</a:t>
            </a:r>
            <a:endParaRPr lang="ro-RO" dirty="0"/>
          </a:p>
        </p:txBody>
      </p:sp>
      <p:sp>
        <p:nvSpPr>
          <p:cNvPr id="4" name="TextBox 3">
            <a:extLst>
              <a:ext uri="{FF2B5EF4-FFF2-40B4-BE49-F238E27FC236}">
                <a16:creationId xmlns:a16="http://schemas.microsoft.com/office/drawing/2014/main" id="{8A47CCF5-A5A0-45F5-0036-458E7F661750}"/>
              </a:ext>
            </a:extLst>
          </p:cNvPr>
          <p:cNvSpPr txBox="1"/>
          <p:nvPr/>
        </p:nvSpPr>
        <p:spPr>
          <a:xfrm>
            <a:off x="1152204" y="2138549"/>
            <a:ext cx="4938498" cy="4339650"/>
          </a:xfrm>
          <a:prstGeom prst="rect">
            <a:avLst/>
          </a:prstGeom>
          <a:noFill/>
        </p:spPr>
        <p:txBody>
          <a:bodyPr wrap="square">
            <a:spAutoFit/>
          </a:bodyPr>
          <a:lstStyle/>
          <a:p>
            <a:r>
              <a:rPr lang="ro-RO" sz="1200" dirty="0"/>
              <a:t>  </a:t>
            </a:r>
            <a:r>
              <a:rPr lang="ro-RO" sz="1200" dirty="0" err="1"/>
              <a:t>int</a:t>
            </a:r>
            <a:r>
              <a:rPr lang="ro-RO" sz="1200" dirty="0"/>
              <a:t> stateIR1 = </a:t>
            </a:r>
            <a:r>
              <a:rPr lang="ro-RO" sz="1200" dirty="0" err="1"/>
              <a:t>digitalRead</a:t>
            </a:r>
            <a:r>
              <a:rPr lang="ro-RO" sz="1200" dirty="0"/>
              <a:t>(IR1_PIN); // LOW-&gt;</a:t>
            </a:r>
            <a:r>
              <a:rPr lang="ro-RO" sz="1200" dirty="0" err="1"/>
              <a:t>object</a:t>
            </a:r>
            <a:r>
              <a:rPr lang="ro-RO" sz="1200" dirty="0"/>
              <a:t> ; HIGH-&gt;NO </a:t>
            </a:r>
            <a:r>
              <a:rPr lang="ro-RO" sz="1200" dirty="0" err="1"/>
              <a:t>object</a:t>
            </a:r>
            <a:endParaRPr lang="ro-RO" sz="1200" dirty="0"/>
          </a:p>
          <a:p>
            <a:r>
              <a:rPr lang="ro-RO" sz="1200" dirty="0"/>
              <a:t>  </a:t>
            </a:r>
            <a:r>
              <a:rPr lang="ro-RO" sz="1200" dirty="0" err="1"/>
              <a:t>int</a:t>
            </a:r>
            <a:r>
              <a:rPr lang="ro-RO" sz="1200" dirty="0"/>
              <a:t> stateIR2 = </a:t>
            </a:r>
            <a:r>
              <a:rPr lang="ro-RO" sz="1200" dirty="0" err="1"/>
              <a:t>digitalRead</a:t>
            </a:r>
            <a:r>
              <a:rPr lang="ro-RO" sz="1200" dirty="0"/>
              <a:t>(IR2_PIN);</a:t>
            </a:r>
          </a:p>
          <a:p>
            <a:r>
              <a:rPr lang="ro-RO" sz="1200" dirty="0"/>
              <a:t>  </a:t>
            </a:r>
            <a:r>
              <a:rPr lang="ro-RO" sz="1200" dirty="0" err="1"/>
              <a:t>readNFC</a:t>
            </a:r>
            <a:r>
              <a:rPr lang="ro-RO" sz="1200" dirty="0"/>
              <a:t>();</a:t>
            </a:r>
          </a:p>
          <a:p>
            <a:endParaRPr lang="ro-RO" sz="1200" dirty="0"/>
          </a:p>
          <a:p>
            <a:r>
              <a:rPr lang="ro-RO" sz="1200" dirty="0"/>
              <a:t>  // NFC -------------------------------------------------------------</a:t>
            </a:r>
          </a:p>
          <a:p>
            <a:endParaRPr lang="ro-RO" sz="1200" dirty="0"/>
          </a:p>
          <a:p>
            <a:r>
              <a:rPr lang="ro-RO" sz="1200" dirty="0"/>
              <a:t>  </a:t>
            </a:r>
            <a:r>
              <a:rPr lang="ro-RO" sz="1200" dirty="0" err="1"/>
              <a:t>if</a:t>
            </a:r>
            <a:r>
              <a:rPr lang="ro-RO" sz="1200" dirty="0"/>
              <a:t> (</a:t>
            </a:r>
            <a:r>
              <a:rPr lang="ro-RO" sz="1200" dirty="0" err="1"/>
              <a:t>tagId</a:t>
            </a:r>
            <a:r>
              <a:rPr lang="ro-RO" sz="1200" dirty="0"/>
              <a:t> == tagId1 || </a:t>
            </a:r>
            <a:r>
              <a:rPr lang="ro-RO" sz="1200" dirty="0" err="1"/>
              <a:t>tagId</a:t>
            </a:r>
            <a:r>
              <a:rPr lang="ro-RO" sz="1200" dirty="0"/>
              <a:t> == tagId2) {</a:t>
            </a:r>
          </a:p>
          <a:p>
            <a:r>
              <a:rPr lang="ro-RO" sz="1200" dirty="0"/>
              <a:t>  </a:t>
            </a:r>
            <a:r>
              <a:rPr lang="ro-RO" sz="1200" dirty="0" err="1"/>
              <a:t>digitalWrite</a:t>
            </a:r>
            <a:r>
              <a:rPr lang="ro-RO" sz="1200" dirty="0"/>
              <a:t>(LED_BUILTIN, !</a:t>
            </a:r>
            <a:r>
              <a:rPr lang="ro-RO" sz="1200" dirty="0" err="1"/>
              <a:t>digitalRead</a:t>
            </a:r>
            <a:r>
              <a:rPr lang="ro-RO" sz="1200" dirty="0"/>
              <a:t>(LED_BUILTIN));</a:t>
            </a:r>
          </a:p>
          <a:p>
            <a:r>
              <a:rPr lang="ro-RO" sz="1200" dirty="0"/>
              <a:t>  </a:t>
            </a:r>
            <a:r>
              <a:rPr lang="ro-RO" sz="1200" dirty="0" err="1"/>
              <a:t>tagId</a:t>
            </a:r>
            <a:r>
              <a:rPr lang="ro-RO" sz="1200" dirty="0"/>
              <a:t> = "";</a:t>
            </a:r>
          </a:p>
          <a:p>
            <a:r>
              <a:rPr lang="ro-RO" sz="1200" dirty="0"/>
              <a:t>  }</a:t>
            </a:r>
          </a:p>
          <a:p>
            <a:endParaRPr lang="ro-RO" sz="1200" dirty="0"/>
          </a:p>
          <a:p>
            <a:r>
              <a:rPr lang="ro-RO" sz="1200" dirty="0"/>
              <a:t>  // DISPLAY CAR COUNT -----------------------------------------------</a:t>
            </a:r>
          </a:p>
          <a:p>
            <a:endParaRPr lang="ro-RO" sz="1200" dirty="0"/>
          </a:p>
          <a:p>
            <a:r>
              <a:rPr lang="ro-RO" sz="1200" dirty="0"/>
              <a:t>  </a:t>
            </a:r>
            <a:r>
              <a:rPr lang="ro-RO" sz="1200" dirty="0" err="1"/>
              <a:t>digitalWrite</a:t>
            </a:r>
            <a:r>
              <a:rPr lang="ro-RO" sz="1200" dirty="0"/>
              <a:t>(11, HIGH);</a:t>
            </a:r>
          </a:p>
          <a:p>
            <a:r>
              <a:rPr lang="ro-RO" sz="1200" dirty="0"/>
              <a:t>  </a:t>
            </a:r>
            <a:r>
              <a:rPr lang="ro-RO" sz="1200" dirty="0" err="1"/>
              <a:t>digitalWrite</a:t>
            </a:r>
            <a:r>
              <a:rPr lang="ro-RO" sz="1200" dirty="0"/>
              <a:t>(12, LOW);</a:t>
            </a:r>
          </a:p>
          <a:p>
            <a:r>
              <a:rPr lang="ro-RO" sz="1200" dirty="0"/>
              <a:t>  dis(</a:t>
            </a:r>
            <a:r>
              <a:rPr lang="ro-RO" sz="1200" dirty="0" err="1"/>
              <a:t>carCount</a:t>
            </a:r>
            <a:r>
              <a:rPr lang="ro-RO" sz="1200" dirty="0"/>
              <a:t>/10);</a:t>
            </a:r>
          </a:p>
          <a:p>
            <a:r>
              <a:rPr lang="ro-RO" sz="1200" dirty="0"/>
              <a:t>  </a:t>
            </a:r>
            <a:r>
              <a:rPr lang="ro-RO" sz="1200" dirty="0" err="1"/>
              <a:t>delay</a:t>
            </a:r>
            <a:r>
              <a:rPr lang="ro-RO" sz="1200" dirty="0"/>
              <a:t>(10);</a:t>
            </a:r>
          </a:p>
          <a:p>
            <a:r>
              <a:rPr lang="ro-RO" sz="1200" dirty="0"/>
              <a:t>  </a:t>
            </a:r>
            <a:r>
              <a:rPr lang="ro-RO" sz="1200" dirty="0" err="1"/>
              <a:t>digitalWrite</a:t>
            </a:r>
            <a:r>
              <a:rPr lang="ro-RO" sz="1200" dirty="0"/>
              <a:t>(12, HIGH);</a:t>
            </a:r>
          </a:p>
          <a:p>
            <a:r>
              <a:rPr lang="ro-RO" sz="1200" dirty="0"/>
              <a:t>  </a:t>
            </a:r>
            <a:r>
              <a:rPr lang="ro-RO" sz="1200" dirty="0" err="1"/>
              <a:t>digitalWrite</a:t>
            </a:r>
            <a:r>
              <a:rPr lang="ro-RO" sz="1200" dirty="0"/>
              <a:t>(11, LOW);</a:t>
            </a:r>
          </a:p>
          <a:p>
            <a:r>
              <a:rPr lang="ro-RO" sz="1200" dirty="0"/>
              <a:t>  dis(carCount%10);</a:t>
            </a:r>
          </a:p>
          <a:p>
            <a:r>
              <a:rPr lang="ro-RO" sz="1200" dirty="0"/>
              <a:t>  </a:t>
            </a:r>
            <a:r>
              <a:rPr lang="ro-RO" sz="1200" dirty="0" err="1"/>
              <a:t>delay</a:t>
            </a:r>
            <a:r>
              <a:rPr lang="ro-RO" sz="1200" dirty="0"/>
              <a:t>(10);</a:t>
            </a:r>
          </a:p>
          <a:p>
            <a:endParaRPr lang="ro-RO" sz="1200" dirty="0"/>
          </a:p>
          <a:p>
            <a:r>
              <a:rPr lang="ro-RO" sz="1200" dirty="0"/>
              <a:t>  </a:t>
            </a:r>
          </a:p>
        </p:txBody>
      </p:sp>
      <p:sp>
        <p:nvSpPr>
          <p:cNvPr id="8" name="TextBox 7">
            <a:extLst>
              <a:ext uri="{FF2B5EF4-FFF2-40B4-BE49-F238E27FC236}">
                <a16:creationId xmlns:a16="http://schemas.microsoft.com/office/drawing/2014/main" id="{5A81D0AF-261D-66F5-8369-83020E0E8B45}"/>
              </a:ext>
            </a:extLst>
          </p:cNvPr>
          <p:cNvSpPr txBox="1"/>
          <p:nvPr/>
        </p:nvSpPr>
        <p:spPr>
          <a:xfrm>
            <a:off x="7344242" y="2138549"/>
            <a:ext cx="4029268" cy="4154984"/>
          </a:xfrm>
          <a:prstGeom prst="rect">
            <a:avLst/>
          </a:prstGeom>
          <a:noFill/>
        </p:spPr>
        <p:txBody>
          <a:bodyPr wrap="square">
            <a:spAutoFit/>
          </a:bodyPr>
          <a:lstStyle/>
          <a:p>
            <a:r>
              <a:rPr lang="ro-RO" sz="1200" dirty="0"/>
              <a:t>// B1 </a:t>
            </a:r>
            <a:r>
              <a:rPr lang="ro-RO" sz="1200" dirty="0" err="1"/>
              <a:t>operation</a:t>
            </a:r>
            <a:r>
              <a:rPr lang="ro-RO" sz="1200" dirty="0"/>
              <a:t> ----------------------------------------------------</a:t>
            </a:r>
          </a:p>
          <a:p>
            <a:endParaRPr lang="ro-RO" sz="1200" dirty="0"/>
          </a:p>
          <a:p>
            <a:r>
              <a:rPr lang="ro-RO" sz="1200" dirty="0"/>
              <a:t>  </a:t>
            </a:r>
            <a:r>
              <a:rPr lang="ro-RO" sz="1200" dirty="0" err="1"/>
              <a:t>if</a:t>
            </a:r>
            <a:r>
              <a:rPr lang="ro-RO" sz="1200" dirty="0"/>
              <a:t>( !FULL </a:t>
            </a:r>
            <a:r>
              <a:rPr lang="ro-RO" sz="1200" dirty="0" err="1"/>
              <a:t>and</a:t>
            </a:r>
            <a:r>
              <a:rPr lang="ro-RO" sz="1200" dirty="0"/>
              <a:t> !BE </a:t>
            </a:r>
            <a:r>
              <a:rPr lang="ro-RO" sz="1200" dirty="0" err="1"/>
              <a:t>and</a:t>
            </a:r>
            <a:r>
              <a:rPr lang="ro-RO" sz="1200" dirty="0"/>
              <a:t> !FULL </a:t>
            </a:r>
            <a:r>
              <a:rPr lang="ro-RO" sz="1200" dirty="0" err="1"/>
              <a:t>and</a:t>
            </a:r>
            <a:r>
              <a:rPr lang="ro-RO" sz="1200" dirty="0"/>
              <a:t> </a:t>
            </a:r>
            <a:r>
              <a:rPr lang="ro-RO" sz="1200" dirty="0" err="1"/>
              <a:t>nfc.tagPresent</a:t>
            </a:r>
            <a:r>
              <a:rPr lang="ro-RO" sz="1200" dirty="0"/>
              <a:t>() </a:t>
            </a:r>
            <a:r>
              <a:rPr lang="ro-RO" sz="1200" dirty="0" err="1"/>
              <a:t>and</a:t>
            </a:r>
            <a:r>
              <a:rPr lang="ro-RO" sz="1200" dirty="0"/>
              <a:t> stateIR1 == LOW ){ //</a:t>
            </a:r>
          </a:p>
          <a:p>
            <a:r>
              <a:rPr lang="ro-RO" sz="1200" dirty="0"/>
              <a:t>    </a:t>
            </a:r>
            <a:r>
              <a:rPr lang="ro-RO" sz="1200" dirty="0" err="1"/>
              <a:t>SME.write</a:t>
            </a:r>
            <a:r>
              <a:rPr lang="ro-RO" sz="1200" dirty="0"/>
              <a:t>(120);</a:t>
            </a:r>
          </a:p>
          <a:p>
            <a:r>
              <a:rPr lang="ro-RO" sz="1200" dirty="0"/>
              <a:t>    </a:t>
            </a:r>
            <a:r>
              <a:rPr lang="ro-RO" sz="1200" dirty="0" err="1"/>
              <a:t>delay</a:t>
            </a:r>
            <a:r>
              <a:rPr lang="ro-RO" sz="1200" dirty="0"/>
              <a:t>(850); </a:t>
            </a:r>
          </a:p>
          <a:p>
            <a:r>
              <a:rPr lang="ro-RO" sz="1200" dirty="0"/>
              <a:t>    </a:t>
            </a:r>
            <a:r>
              <a:rPr lang="ro-RO" sz="1200" dirty="0" err="1"/>
              <a:t>SME.write</a:t>
            </a:r>
            <a:r>
              <a:rPr lang="ro-RO" sz="1200" dirty="0"/>
              <a:t>(100);</a:t>
            </a:r>
          </a:p>
          <a:p>
            <a:endParaRPr lang="ro-RO" sz="1200" dirty="0"/>
          </a:p>
          <a:p>
            <a:r>
              <a:rPr lang="ro-RO" sz="1200" dirty="0"/>
              <a:t>    BE=1;</a:t>
            </a:r>
          </a:p>
          <a:p>
            <a:r>
              <a:rPr lang="ro-RO" sz="1200" dirty="0"/>
              <a:t>  }</a:t>
            </a:r>
          </a:p>
          <a:p>
            <a:endParaRPr lang="ro-RO" sz="1200" dirty="0"/>
          </a:p>
          <a:p>
            <a:r>
              <a:rPr lang="ro-RO" sz="1200" dirty="0"/>
              <a:t>  </a:t>
            </a:r>
            <a:r>
              <a:rPr lang="ro-RO" sz="1200" dirty="0" err="1"/>
              <a:t>if</a:t>
            </a:r>
            <a:r>
              <a:rPr lang="ro-RO" sz="1200" dirty="0"/>
              <a:t>( BE </a:t>
            </a:r>
            <a:r>
              <a:rPr lang="ro-RO" sz="1200" dirty="0" err="1"/>
              <a:t>and</a:t>
            </a:r>
            <a:r>
              <a:rPr lang="ro-RO" sz="1200" dirty="0"/>
              <a:t> lastStateIR1 == LOW </a:t>
            </a:r>
            <a:r>
              <a:rPr lang="ro-RO" sz="1200" dirty="0" err="1"/>
              <a:t>and</a:t>
            </a:r>
            <a:r>
              <a:rPr lang="ro-RO" sz="1200" dirty="0"/>
              <a:t> stateIR1 == HIGH){</a:t>
            </a:r>
          </a:p>
          <a:p>
            <a:r>
              <a:rPr lang="ro-RO" sz="1200" dirty="0"/>
              <a:t>    </a:t>
            </a:r>
            <a:r>
              <a:rPr lang="ro-RO" sz="1200" dirty="0" err="1"/>
              <a:t>delay</a:t>
            </a:r>
            <a:r>
              <a:rPr lang="ro-RO" sz="1200" dirty="0"/>
              <a:t>(400);</a:t>
            </a:r>
          </a:p>
          <a:p>
            <a:r>
              <a:rPr lang="ro-RO" sz="1200" dirty="0"/>
              <a:t>    </a:t>
            </a:r>
            <a:r>
              <a:rPr lang="ro-RO" sz="1200" dirty="0" err="1"/>
              <a:t>SME.write</a:t>
            </a:r>
            <a:r>
              <a:rPr lang="ro-RO" sz="1200" dirty="0"/>
              <a:t>(70);</a:t>
            </a:r>
          </a:p>
          <a:p>
            <a:r>
              <a:rPr lang="ro-RO" sz="1200" dirty="0"/>
              <a:t>    </a:t>
            </a:r>
            <a:r>
              <a:rPr lang="ro-RO" sz="1200" dirty="0" err="1"/>
              <a:t>delay</a:t>
            </a:r>
            <a:r>
              <a:rPr lang="ro-RO" sz="1200" dirty="0"/>
              <a:t>(800);</a:t>
            </a:r>
          </a:p>
          <a:p>
            <a:r>
              <a:rPr lang="ro-RO" sz="1200" dirty="0"/>
              <a:t>    </a:t>
            </a:r>
            <a:r>
              <a:rPr lang="ro-RO" sz="1200" dirty="0" err="1"/>
              <a:t>SME.write</a:t>
            </a:r>
            <a:r>
              <a:rPr lang="ro-RO" sz="1200" dirty="0"/>
              <a:t>(100);</a:t>
            </a:r>
          </a:p>
          <a:p>
            <a:endParaRPr lang="ro-RO" sz="1200" dirty="0"/>
          </a:p>
          <a:p>
            <a:r>
              <a:rPr lang="ro-RO" sz="1200" dirty="0"/>
              <a:t>    </a:t>
            </a:r>
            <a:r>
              <a:rPr lang="ro-RO" sz="1200" dirty="0" err="1"/>
              <a:t>if</a:t>
            </a:r>
            <a:r>
              <a:rPr lang="ro-RO" sz="1200" dirty="0"/>
              <a:t>(</a:t>
            </a:r>
            <a:r>
              <a:rPr lang="ro-RO" sz="1200" dirty="0" err="1"/>
              <a:t>empty</a:t>
            </a:r>
            <a:r>
              <a:rPr lang="ro-RO" sz="1200" dirty="0"/>
              <a:t>) </a:t>
            </a:r>
            <a:r>
              <a:rPr lang="ro-RO" sz="1200" dirty="0" err="1"/>
              <a:t>empty</a:t>
            </a:r>
            <a:r>
              <a:rPr lang="ro-RO" sz="1200" dirty="0"/>
              <a:t>=0;</a:t>
            </a:r>
          </a:p>
          <a:p>
            <a:r>
              <a:rPr lang="ro-RO" sz="1200" dirty="0"/>
              <a:t>    </a:t>
            </a:r>
            <a:r>
              <a:rPr lang="ro-RO" sz="1200" dirty="0" err="1"/>
              <a:t>carCount</a:t>
            </a:r>
            <a:r>
              <a:rPr lang="ro-RO" sz="1200" dirty="0"/>
              <a:t>++;</a:t>
            </a:r>
          </a:p>
          <a:p>
            <a:r>
              <a:rPr lang="ro-RO" sz="1200" dirty="0"/>
              <a:t>    </a:t>
            </a:r>
            <a:r>
              <a:rPr lang="ro-RO" sz="1200" dirty="0" err="1"/>
              <a:t>if</a:t>
            </a:r>
            <a:r>
              <a:rPr lang="ro-RO" sz="1200" dirty="0"/>
              <a:t>(</a:t>
            </a:r>
            <a:r>
              <a:rPr lang="ro-RO" sz="1200" dirty="0" err="1"/>
              <a:t>carCount</a:t>
            </a:r>
            <a:r>
              <a:rPr lang="ro-RO" sz="1200" dirty="0"/>
              <a:t> &gt;= </a:t>
            </a:r>
            <a:r>
              <a:rPr lang="ro-RO" sz="1200" dirty="0" err="1"/>
              <a:t>carCapacity</a:t>
            </a:r>
            <a:r>
              <a:rPr lang="ro-RO" sz="1200" dirty="0"/>
              <a:t>) FULL=1;</a:t>
            </a:r>
          </a:p>
          <a:p>
            <a:r>
              <a:rPr lang="ro-RO" sz="1200" dirty="0"/>
              <a:t>    BE=0;</a:t>
            </a:r>
          </a:p>
          <a:p>
            <a:r>
              <a:rPr lang="ro-RO" sz="1200" dirty="0"/>
              <a:t>  }</a:t>
            </a:r>
          </a:p>
        </p:txBody>
      </p:sp>
      <p:sp>
        <p:nvSpPr>
          <p:cNvPr id="10" name="TextBox 9">
            <a:extLst>
              <a:ext uri="{FF2B5EF4-FFF2-40B4-BE49-F238E27FC236}">
                <a16:creationId xmlns:a16="http://schemas.microsoft.com/office/drawing/2014/main" id="{1ED7A244-ED89-39CD-7725-4D98B1365705}"/>
              </a:ext>
            </a:extLst>
          </p:cNvPr>
          <p:cNvSpPr txBox="1"/>
          <p:nvPr/>
        </p:nvSpPr>
        <p:spPr>
          <a:xfrm rot="16200000">
            <a:off x="-1081263" y="4077542"/>
            <a:ext cx="3970317" cy="461665"/>
          </a:xfrm>
          <a:prstGeom prst="rect">
            <a:avLst/>
          </a:prstGeom>
          <a:noFill/>
        </p:spPr>
        <p:txBody>
          <a:bodyPr wrap="square" rtlCol="0">
            <a:spAutoFit/>
          </a:bodyPr>
          <a:lstStyle/>
          <a:p>
            <a:r>
              <a:rPr lang="en-US" sz="2400" dirty="0"/>
              <a:t>MAIN LOOP FUNCTION</a:t>
            </a:r>
            <a:endParaRPr lang="ro-RO" sz="2400" dirty="0"/>
          </a:p>
        </p:txBody>
      </p:sp>
      <p:pic>
        <p:nvPicPr>
          <p:cNvPr id="2054" name="Picture 6" descr="SpongeBob SquarePants PNG Images Transparent Background - PNG Play">
            <a:extLst>
              <a:ext uri="{FF2B5EF4-FFF2-40B4-BE49-F238E27FC236}">
                <a16:creationId xmlns:a16="http://schemas.microsoft.com/office/drawing/2014/main" id="{8ED73476-357B-B749-37E8-17B7623EB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64" y="4432593"/>
            <a:ext cx="1814610" cy="2341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937764"/>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FAC5E-9231-58CF-E5CF-DAF105C39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DC055-8F32-0680-BF4D-916686A609D7}"/>
              </a:ext>
            </a:extLst>
          </p:cNvPr>
          <p:cNvSpPr>
            <a:spLocks noGrp="1"/>
          </p:cNvSpPr>
          <p:nvPr>
            <p:ph type="title"/>
          </p:nvPr>
        </p:nvSpPr>
        <p:spPr/>
        <p:txBody>
          <a:bodyPr/>
          <a:lstStyle/>
          <a:p>
            <a:r>
              <a:rPr lang="en-US" dirty="0"/>
              <a:t>Code</a:t>
            </a:r>
            <a:endParaRPr lang="ro-RO" dirty="0"/>
          </a:p>
        </p:txBody>
      </p:sp>
      <p:sp>
        <p:nvSpPr>
          <p:cNvPr id="4" name="TextBox 3">
            <a:extLst>
              <a:ext uri="{FF2B5EF4-FFF2-40B4-BE49-F238E27FC236}">
                <a16:creationId xmlns:a16="http://schemas.microsoft.com/office/drawing/2014/main" id="{3D2DABB6-EE6F-1B4B-1D75-051A8A0B6D8E}"/>
              </a:ext>
            </a:extLst>
          </p:cNvPr>
          <p:cNvSpPr txBox="1"/>
          <p:nvPr/>
        </p:nvSpPr>
        <p:spPr>
          <a:xfrm>
            <a:off x="1152204" y="2138549"/>
            <a:ext cx="4938498" cy="4708981"/>
          </a:xfrm>
          <a:prstGeom prst="rect">
            <a:avLst/>
          </a:prstGeom>
          <a:noFill/>
        </p:spPr>
        <p:txBody>
          <a:bodyPr wrap="square">
            <a:spAutoFit/>
          </a:bodyPr>
          <a:lstStyle/>
          <a:p>
            <a:r>
              <a:rPr lang="ro-RO" sz="1200" dirty="0"/>
              <a:t>// B2 </a:t>
            </a:r>
            <a:r>
              <a:rPr lang="ro-RO" sz="1200" dirty="0" err="1"/>
              <a:t>operation</a:t>
            </a:r>
            <a:r>
              <a:rPr lang="ro-RO" sz="1200" dirty="0"/>
              <a:t> ----------------------------------------------------</a:t>
            </a:r>
          </a:p>
          <a:p>
            <a:endParaRPr lang="ro-RO" sz="1200" dirty="0"/>
          </a:p>
          <a:p>
            <a:r>
              <a:rPr lang="ro-RO" sz="1200" dirty="0"/>
              <a:t>  </a:t>
            </a:r>
            <a:r>
              <a:rPr lang="ro-RO" sz="1200" dirty="0" err="1"/>
              <a:t>if</a:t>
            </a:r>
            <a:r>
              <a:rPr lang="ro-RO" sz="1200" dirty="0"/>
              <a:t>( !</a:t>
            </a:r>
            <a:r>
              <a:rPr lang="ro-RO" sz="1200" dirty="0" err="1"/>
              <a:t>empty</a:t>
            </a:r>
            <a:r>
              <a:rPr lang="ro-RO" sz="1200" dirty="0"/>
              <a:t> </a:t>
            </a:r>
            <a:r>
              <a:rPr lang="ro-RO" sz="1200" dirty="0" err="1"/>
              <a:t>and</a:t>
            </a:r>
            <a:r>
              <a:rPr lang="ro-RO" sz="1200" dirty="0"/>
              <a:t> !BX </a:t>
            </a:r>
            <a:r>
              <a:rPr lang="ro-RO" sz="1200" dirty="0" err="1"/>
              <a:t>and</a:t>
            </a:r>
            <a:r>
              <a:rPr lang="ro-RO" sz="1200" dirty="0"/>
              <a:t> lastStateIR2 == HIGH </a:t>
            </a:r>
            <a:r>
              <a:rPr lang="ro-RO" sz="1200" dirty="0" err="1"/>
              <a:t>and</a:t>
            </a:r>
            <a:r>
              <a:rPr lang="ro-RO" sz="1200" dirty="0"/>
              <a:t> stateIR2 == LOW){</a:t>
            </a:r>
          </a:p>
          <a:p>
            <a:r>
              <a:rPr lang="ro-RO" sz="1200" dirty="0"/>
              <a:t>    </a:t>
            </a:r>
            <a:r>
              <a:rPr lang="ro-RO" sz="1200" dirty="0" err="1"/>
              <a:t>SMX.write</a:t>
            </a:r>
            <a:r>
              <a:rPr lang="ro-RO" sz="1200" dirty="0"/>
              <a:t>(120);</a:t>
            </a:r>
          </a:p>
          <a:p>
            <a:r>
              <a:rPr lang="ro-RO" sz="1200" dirty="0"/>
              <a:t>    </a:t>
            </a:r>
            <a:r>
              <a:rPr lang="ro-RO" sz="1200" dirty="0" err="1"/>
              <a:t>delay</a:t>
            </a:r>
            <a:r>
              <a:rPr lang="ro-RO" sz="1200" dirty="0"/>
              <a:t>(800);</a:t>
            </a:r>
          </a:p>
          <a:p>
            <a:r>
              <a:rPr lang="ro-RO" sz="1200" dirty="0"/>
              <a:t>    </a:t>
            </a:r>
            <a:r>
              <a:rPr lang="ro-RO" sz="1200" dirty="0" err="1"/>
              <a:t>SMX.write</a:t>
            </a:r>
            <a:r>
              <a:rPr lang="ro-RO" sz="1200" dirty="0"/>
              <a:t>(100);</a:t>
            </a:r>
          </a:p>
          <a:p>
            <a:endParaRPr lang="ro-RO" sz="1200" dirty="0"/>
          </a:p>
          <a:p>
            <a:r>
              <a:rPr lang="ro-RO" sz="1200" dirty="0"/>
              <a:t>    BX=1;</a:t>
            </a:r>
          </a:p>
          <a:p>
            <a:r>
              <a:rPr lang="ro-RO" sz="1200" dirty="0"/>
              <a:t>  }</a:t>
            </a:r>
          </a:p>
          <a:p>
            <a:endParaRPr lang="ro-RO" sz="1200" dirty="0"/>
          </a:p>
          <a:p>
            <a:r>
              <a:rPr lang="ro-RO" sz="1200" dirty="0"/>
              <a:t>  </a:t>
            </a:r>
            <a:r>
              <a:rPr lang="ro-RO" sz="1200" dirty="0" err="1"/>
              <a:t>if</a:t>
            </a:r>
            <a:r>
              <a:rPr lang="ro-RO" sz="1200" dirty="0"/>
              <a:t>( !</a:t>
            </a:r>
            <a:r>
              <a:rPr lang="ro-RO" sz="1200" dirty="0" err="1"/>
              <a:t>empty</a:t>
            </a:r>
            <a:r>
              <a:rPr lang="ro-RO" sz="1200" dirty="0"/>
              <a:t> </a:t>
            </a:r>
            <a:r>
              <a:rPr lang="ro-RO" sz="1200" dirty="0" err="1"/>
              <a:t>and</a:t>
            </a:r>
            <a:r>
              <a:rPr lang="ro-RO" sz="1200" dirty="0"/>
              <a:t> BX </a:t>
            </a:r>
            <a:r>
              <a:rPr lang="ro-RO" sz="1200" dirty="0" err="1"/>
              <a:t>and</a:t>
            </a:r>
            <a:r>
              <a:rPr lang="ro-RO" sz="1200" dirty="0"/>
              <a:t> lastStateIR2 == LOW </a:t>
            </a:r>
            <a:r>
              <a:rPr lang="ro-RO" sz="1200" dirty="0" err="1"/>
              <a:t>and</a:t>
            </a:r>
            <a:r>
              <a:rPr lang="ro-RO" sz="1200" dirty="0"/>
              <a:t> stateIR2 == HIGH){</a:t>
            </a:r>
          </a:p>
          <a:p>
            <a:r>
              <a:rPr lang="ro-RO" sz="1200" dirty="0"/>
              <a:t>    </a:t>
            </a:r>
            <a:r>
              <a:rPr lang="ro-RO" sz="1200" dirty="0" err="1"/>
              <a:t>delay</a:t>
            </a:r>
            <a:r>
              <a:rPr lang="ro-RO" sz="1200" dirty="0"/>
              <a:t>(400);</a:t>
            </a:r>
          </a:p>
          <a:p>
            <a:r>
              <a:rPr lang="ro-RO" sz="1200" dirty="0"/>
              <a:t>    </a:t>
            </a:r>
            <a:r>
              <a:rPr lang="ro-RO" sz="1200" dirty="0" err="1"/>
              <a:t>SMX.write</a:t>
            </a:r>
            <a:r>
              <a:rPr lang="ro-RO" sz="1200" dirty="0"/>
              <a:t>(70);</a:t>
            </a:r>
          </a:p>
          <a:p>
            <a:r>
              <a:rPr lang="ro-RO" sz="1200" dirty="0"/>
              <a:t>    </a:t>
            </a:r>
            <a:r>
              <a:rPr lang="ro-RO" sz="1200" dirty="0" err="1"/>
              <a:t>delay</a:t>
            </a:r>
            <a:r>
              <a:rPr lang="ro-RO" sz="1200" dirty="0"/>
              <a:t>(800);</a:t>
            </a:r>
          </a:p>
          <a:p>
            <a:r>
              <a:rPr lang="ro-RO" sz="1200" dirty="0"/>
              <a:t>    </a:t>
            </a:r>
            <a:r>
              <a:rPr lang="ro-RO" sz="1200" dirty="0" err="1"/>
              <a:t>SMX.write</a:t>
            </a:r>
            <a:r>
              <a:rPr lang="ro-RO" sz="1200" dirty="0"/>
              <a:t>(100);</a:t>
            </a:r>
          </a:p>
          <a:p>
            <a:endParaRPr lang="ro-RO" sz="1200" dirty="0"/>
          </a:p>
          <a:p>
            <a:r>
              <a:rPr lang="ro-RO" sz="1200" dirty="0"/>
              <a:t>    </a:t>
            </a:r>
            <a:r>
              <a:rPr lang="ro-RO" sz="1200" dirty="0" err="1"/>
              <a:t>if</a:t>
            </a:r>
            <a:r>
              <a:rPr lang="ro-RO" sz="1200" dirty="0"/>
              <a:t>(FULL) FULL=0;</a:t>
            </a:r>
          </a:p>
          <a:p>
            <a:r>
              <a:rPr lang="ro-RO" sz="1200" dirty="0"/>
              <a:t>    </a:t>
            </a:r>
            <a:r>
              <a:rPr lang="ro-RO" sz="1200" dirty="0" err="1"/>
              <a:t>carCount</a:t>
            </a:r>
            <a:r>
              <a:rPr lang="ro-RO" sz="1200" dirty="0"/>
              <a:t>--;</a:t>
            </a:r>
          </a:p>
          <a:p>
            <a:r>
              <a:rPr lang="ro-RO" sz="1200" dirty="0"/>
              <a:t>    </a:t>
            </a:r>
            <a:r>
              <a:rPr lang="ro-RO" sz="1200" dirty="0" err="1"/>
              <a:t>if</a:t>
            </a:r>
            <a:r>
              <a:rPr lang="ro-RO" sz="1200" dirty="0"/>
              <a:t>(</a:t>
            </a:r>
            <a:r>
              <a:rPr lang="ro-RO" sz="1200" dirty="0" err="1"/>
              <a:t>carCount</a:t>
            </a:r>
            <a:r>
              <a:rPr lang="ro-RO" sz="1200" dirty="0"/>
              <a:t>==0) </a:t>
            </a:r>
            <a:r>
              <a:rPr lang="ro-RO" sz="1200" dirty="0" err="1"/>
              <a:t>empty</a:t>
            </a:r>
            <a:r>
              <a:rPr lang="ro-RO" sz="1200" dirty="0"/>
              <a:t>=1;</a:t>
            </a:r>
          </a:p>
          <a:p>
            <a:r>
              <a:rPr lang="ro-RO" sz="1200" dirty="0"/>
              <a:t>    BX=0;</a:t>
            </a:r>
          </a:p>
          <a:p>
            <a:r>
              <a:rPr lang="ro-RO" sz="1200" dirty="0"/>
              <a:t>  }</a:t>
            </a:r>
          </a:p>
          <a:p>
            <a:endParaRPr lang="ro-RO" sz="1200" dirty="0"/>
          </a:p>
          <a:p>
            <a:r>
              <a:rPr lang="ro-RO" sz="1200" dirty="0"/>
              <a:t>  lastStateIR1=stateIR1;</a:t>
            </a:r>
          </a:p>
          <a:p>
            <a:r>
              <a:rPr lang="ro-RO" sz="1200" dirty="0"/>
              <a:t>  lastStateIR2=stateIR2;</a:t>
            </a:r>
          </a:p>
          <a:p>
            <a:r>
              <a:rPr lang="ro-RO" sz="1200" dirty="0"/>
              <a:t>}</a:t>
            </a:r>
          </a:p>
        </p:txBody>
      </p:sp>
      <p:sp>
        <p:nvSpPr>
          <p:cNvPr id="10" name="TextBox 9">
            <a:extLst>
              <a:ext uri="{FF2B5EF4-FFF2-40B4-BE49-F238E27FC236}">
                <a16:creationId xmlns:a16="http://schemas.microsoft.com/office/drawing/2014/main" id="{51A217EF-63EE-F9CE-C2F0-F8C9DA56F1DF}"/>
              </a:ext>
            </a:extLst>
          </p:cNvPr>
          <p:cNvSpPr txBox="1"/>
          <p:nvPr/>
        </p:nvSpPr>
        <p:spPr>
          <a:xfrm rot="16200000">
            <a:off x="-1081263" y="4077542"/>
            <a:ext cx="3970317" cy="461665"/>
          </a:xfrm>
          <a:prstGeom prst="rect">
            <a:avLst/>
          </a:prstGeom>
          <a:noFill/>
        </p:spPr>
        <p:txBody>
          <a:bodyPr wrap="square" rtlCol="0">
            <a:spAutoFit/>
          </a:bodyPr>
          <a:lstStyle/>
          <a:p>
            <a:r>
              <a:rPr lang="en-US" sz="2400" dirty="0"/>
              <a:t>MAIN LOOP FUNCTION</a:t>
            </a:r>
            <a:endParaRPr lang="ro-RO" sz="2400" dirty="0"/>
          </a:p>
        </p:txBody>
      </p:sp>
      <p:pic>
        <p:nvPicPr>
          <p:cNvPr id="1026" name="Picture 2" descr="AI generated Transparent background with cretaceous dinosaur isolated ...">
            <a:extLst>
              <a:ext uri="{FF2B5EF4-FFF2-40B4-BE49-F238E27FC236}">
                <a16:creationId xmlns:a16="http://schemas.microsoft.com/office/drawing/2014/main" id="{F10290F7-62D4-A549-FB38-7910CA3EB0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0441" y="2014258"/>
            <a:ext cx="4938497" cy="4938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96214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1EA15-D652-0A4C-FB61-51AB5DA31FB9}"/>
              </a:ext>
            </a:extLst>
          </p:cNvPr>
          <p:cNvSpPr>
            <a:spLocks noGrp="1"/>
          </p:cNvSpPr>
          <p:nvPr>
            <p:ph type="title"/>
          </p:nvPr>
        </p:nvSpPr>
        <p:spPr/>
        <p:txBody>
          <a:bodyPr/>
          <a:lstStyle/>
          <a:p>
            <a:r>
              <a:rPr lang="en-US" dirty="0"/>
              <a:t>Thank you for your kind attention!</a:t>
            </a:r>
            <a:endParaRPr lang="ro-RO" dirty="0"/>
          </a:p>
        </p:txBody>
      </p:sp>
      <p:pic>
        <p:nvPicPr>
          <p:cNvPr id="21" name="Picture Placeholder 20">
            <a:extLst>
              <a:ext uri="{FF2B5EF4-FFF2-40B4-BE49-F238E27FC236}">
                <a16:creationId xmlns:a16="http://schemas.microsoft.com/office/drawing/2014/main" id="{BD6CD7F9-FB6F-F3F0-E102-88DAD07B090F}"/>
              </a:ext>
            </a:extLst>
          </p:cNvPr>
          <p:cNvPicPr>
            <a:picLocks noGrp="1" noChangeAspect="1"/>
          </p:cNvPicPr>
          <p:nvPr>
            <p:ph type="pic" idx="1"/>
          </p:nvPr>
        </p:nvPicPr>
        <p:blipFill>
          <a:blip r:embed="rId4"/>
          <a:srcRect t="27712" b="27712"/>
          <a:stretch>
            <a:fillRect/>
          </a:stretch>
        </p:blipFill>
        <p:spPr>
          <a:xfrm>
            <a:off x="450850" y="538163"/>
            <a:ext cx="11290300" cy="3556000"/>
          </a:xfrm>
        </p:spPr>
      </p:pic>
      <p:sp>
        <p:nvSpPr>
          <p:cNvPr id="4" name="Text Placeholder 3">
            <a:extLst>
              <a:ext uri="{FF2B5EF4-FFF2-40B4-BE49-F238E27FC236}">
                <a16:creationId xmlns:a16="http://schemas.microsoft.com/office/drawing/2014/main" id="{EF1684E1-F162-7CE9-C884-BE050F32A7BC}"/>
              </a:ext>
            </a:extLst>
          </p:cNvPr>
          <p:cNvSpPr>
            <a:spLocks noGrp="1"/>
          </p:cNvSpPr>
          <p:nvPr>
            <p:ph type="body" sz="half" idx="2"/>
          </p:nvPr>
        </p:nvSpPr>
        <p:spPr>
          <a:xfrm>
            <a:off x="581190" y="5260127"/>
            <a:ext cx="11029617" cy="598671"/>
          </a:xfrm>
        </p:spPr>
        <p:txBody>
          <a:bodyPr/>
          <a:lstStyle/>
          <a:p>
            <a:r>
              <a:rPr lang="en-US" dirty="0"/>
              <a:t>EMS Project by Bucur Bogdan, Demian Daria &amp; </a:t>
            </a:r>
            <a:r>
              <a:rPr lang="ro-RO" dirty="0"/>
              <a:t>Știube Bogdan</a:t>
            </a:r>
            <a:r>
              <a:rPr lang="en-US" dirty="0"/>
              <a:t> – Group: 30421</a:t>
            </a:r>
            <a:endParaRPr lang="ro-RO" dirty="0"/>
          </a:p>
        </p:txBody>
      </p:sp>
      <p:pic>
        <p:nvPicPr>
          <p:cNvPr id="22" name="Skrillex - Scary Monsters And Nice Sprites (Official Audio)">
            <a:hlinkClick r:id="" action="ppaction://media"/>
            <a:extLst>
              <a:ext uri="{FF2B5EF4-FFF2-40B4-BE49-F238E27FC236}">
                <a16:creationId xmlns:a16="http://schemas.microsoft.com/office/drawing/2014/main" id="{0AFB95BB-CB82-AC7C-FCC9-E26DC27C8A6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936708" y="6076155"/>
            <a:ext cx="487363" cy="487363"/>
          </a:xfrm>
          <a:prstGeom prst="rect">
            <a:avLst/>
          </a:prstGeom>
        </p:spPr>
      </p:pic>
    </p:spTree>
    <p:extLst>
      <p:ext uri="{BB962C8B-B14F-4D97-AF65-F5344CB8AC3E}">
        <p14:creationId xmlns:p14="http://schemas.microsoft.com/office/powerpoint/2010/main" val="11740778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69512" numSld="999" showWhenStopped="0">
                <p:cTn id="7" repeatCount="indefinite" fill="hold" display="0">
                  <p:stCondLst>
                    <p:cond delay="indefinite"/>
                  </p:stCondLst>
                  <p:endCondLst>
                    <p:cond evt="onStopAudio" delay="0">
                      <p:tgtEl>
                        <p:sldTgt/>
                      </p:tgtEl>
                    </p:cond>
                  </p:endCondLst>
                </p:cTn>
                <p:tgtEl>
                  <p:spTgt spid="22"/>
                </p:tgtEl>
              </p:cMediaNode>
            </p:audio>
          </p:childTnLst>
        </p:cTn>
      </p:par>
    </p:tnLst>
  </p:timing>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{461E0386-D029-4FBE-9452-B07DCFE5B957}TF319cfb39-eeba-4af5-a5a2-03d53d037516e9c4211c-95ec445a9826</Template>
  <TotalTime>115</TotalTime>
  <Words>1240</Words>
  <Application>Microsoft Office PowerPoint</Application>
  <PresentationFormat>Widescreen</PresentationFormat>
  <Paragraphs>147</Paragraphs>
  <Slides>10</Slides>
  <Notes>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Gill Sans MT</vt:lpstr>
      <vt:lpstr>Wingdings 2</vt:lpstr>
      <vt:lpstr>Dividend</vt:lpstr>
      <vt:lpstr>Parking management system w/ nfc access</vt:lpstr>
      <vt:lpstr>Project description</vt:lpstr>
      <vt:lpstr>Hardware used</vt:lpstr>
      <vt:lpstr>HARDWARE USED</vt:lpstr>
      <vt:lpstr>HARDWARE USED</vt:lpstr>
      <vt:lpstr>SOFTWARE USED</vt:lpstr>
      <vt:lpstr>Code</vt:lpstr>
      <vt:lpstr>Code</vt:lpstr>
      <vt:lpstr>Code</vt:lpstr>
      <vt:lpstr>Thank you for your kind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Știube Bogdan</dc:creator>
  <cp:lastModifiedBy>Știube Bogdan</cp:lastModifiedBy>
  <cp:revision>17</cp:revision>
  <dcterms:created xsi:type="dcterms:W3CDTF">2025-12-24T16:45:38Z</dcterms:created>
  <dcterms:modified xsi:type="dcterms:W3CDTF">2025-12-24T18:49:28Z</dcterms:modified>
</cp:coreProperties>
</file>